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7"/>
  </p:notesMasterIdLst>
  <p:handoutMasterIdLst>
    <p:handoutMasterId r:id="rId28"/>
  </p:handoutMasterIdLst>
  <p:sldIdLst>
    <p:sldId id="312" r:id="rId5"/>
    <p:sldId id="331" r:id="rId6"/>
    <p:sldId id="332" r:id="rId7"/>
    <p:sldId id="335" r:id="rId8"/>
    <p:sldId id="356" r:id="rId9"/>
    <p:sldId id="357" r:id="rId10"/>
    <p:sldId id="358" r:id="rId11"/>
    <p:sldId id="359" r:id="rId12"/>
    <p:sldId id="336" r:id="rId13"/>
    <p:sldId id="360" r:id="rId14"/>
    <p:sldId id="333" r:id="rId15"/>
    <p:sldId id="362" r:id="rId16"/>
    <p:sldId id="361" r:id="rId17"/>
    <p:sldId id="334" r:id="rId18"/>
    <p:sldId id="342" r:id="rId19"/>
    <p:sldId id="363" r:id="rId20"/>
    <p:sldId id="364" r:id="rId21"/>
    <p:sldId id="343" r:id="rId22"/>
    <p:sldId id="344" r:id="rId23"/>
    <p:sldId id="366" r:id="rId24"/>
    <p:sldId id="365" r:id="rId25"/>
    <p:sldId id="297" r:id="rId2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2" d="100"/>
          <a:sy n="72" d="100"/>
        </p:scale>
        <p:origin x="1104" y="4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title"/>
          </p:nvPr>
        </p:nvSpPr>
        <p:spPr>
          <a:xfrm>
            <a:off x="4364809" y="1057274"/>
            <a:ext cx="7043617" cy="2520217"/>
          </a:xfrm>
        </p:spPr>
        <p:txBody>
          <a:bodyPr vert="horz" lIns="91440" tIns="0" rIns="91440" bIns="0" rtlCol="0" anchor="b" anchorCtr="0">
            <a:normAutofit/>
          </a:bodyPr>
          <a:lstStyle/>
          <a:p>
            <a:r>
              <a:rPr lang="en-US" b="1" kern="1200" cap="all" baseline="0">
                <a:latin typeface="+mj-lt"/>
                <a:ea typeface="+mj-ea"/>
                <a:cs typeface="+mj-cs"/>
              </a:rPr>
              <a:t>Analysis of Theater Customer Data: Model Evaluation &amp; Insights</a:t>
            </a:r>
          </a:p>
        </p:txBody>
      </p:sp>
      <p:sp>
        <p:nvSpPr>
          <p:cNvPr id="8" name="Slide Number Placeholder 2">
            <a:extLst>
              <a:ext uri="{FF2B5EF4-FFF2-40B4-BE49-F238E27FC236}">
                <a16:creationId xmlns:a16="http://schemas.microsoft.com/office/drawing/2014/main" id="{4C607517-0E2C-92D6-479C-6B58C2213F73}"/>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1</a:t>
            </a:fld>
            <a:endParaRPr lang="en-US"/>
          </a:p>
        </p:txBody>
      </p:sp>
      <p:sp>
        <p:nvSpPr>
          <p:cNvPr id="3" name="TextBox 2">
            <a:extLst>
              <a:ext uri="{FF2B5EF4-FFF2-40B4-BE49-F238E27FC236}">
                <a16:creationId xmlns:a16="http://schemas.microsoft.com/office/drawing/2014/main" id="{96320B89-0B4A-C9A5-EBE7-264A9D33EA62}"/>
              </a:ext>
            </a:extLst>
          </p:cNvPr>
          <p:cNvSpPr txBox="1"/>
          <p:nvPr/>
        </p:nvSpPr>
        <p:spPr>
          <a:xfrm>
            <a:off x="4503031" y="4167568"/>
            <a:ext cx="7043618" cy="2233233"/>
          </a:xfrm>
          <a:prstGeom prst="rect">
            <a:avLst/>
          </a:prstGeom>
        </p:spPr>
        <p:txBody>
          <a:bodyPr vert="horz" lIns="91440" tIns="0" rIns="91440" bIns="0" rtlCol="0">
            <a:normAutofit/>
          </a:bodyPr>
          <a:lstStyle/>
          <a:p>
            <a:pPr defTabSz="914400">
              <a:spcAft>
                <a:spcPts val="600"/>
              </a:spcAft>
              <a:buFont typeface="Arial" panose="020B0604020202020204" pitchFamily="34" charset="0"/>
            </a:pPr>
            <a:r>
              <a:rPr lang="en-US" sz="2400" dirty="0">
                <a:solidFill>
                  <a:schemeClr val="accent6"/>
                </a:solidFill>
              </a:rPr>
              <a:t>Chakrapani Gajji</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9250-681A-D467-D144-9D8BC3B00F7C}"/>
              </a:ext>
            </a:extLst>
          </p:cNvPr>
          <p:cNvSpPr>
            <a:spLocks noGrp="1"/>
          </p:cNvSpPr>
          <p:nvPr>
            <p:ph type="title"/>
          </p:nvPr>
        </p:nvSpPr>
        <p:spPr>
          <a:xfrm>
            <a:off x="914400" y="1057274"/>
            <a:ext cx="10511627" cy="1012785"/>
          </a:xfrm>
        </p:spPr>
        <p:txBody>
          <a:bodyPr anchor="b">
            <a:normAutofit/>
          </a:bodyPr>
          <a:lstStyle/>
          <a:p>
            <a:r>
              <a:rPr lang="en-IN" dirty="0"/>
              <a:t>Project Overview</a:t>
            </a:r>
          </a:p>
        </p:txBody>
      </p:sp>
      <p:sp>
        <p:nvSpPr>
          <p:cNvPr id="3" name="Content Placeholder 2">
            <a:extLst>
              <a:ext uri="{FF2B5EF4-FFF2-40B4-BE49-F238E27FC236}">
                <a16:creationId xmlns:a16="http://schemas.microsoft.com/office/drawing/2014/main" id="{5DAE4576-673A-3CF9-D2D3-F5D15455B234}"/>
              </a:ext>
            </a:extLst>
          </p:cNvPr>
          <p:cNvSpPr>
            <a:spLocks noGrp="1"/>
          </p:cNvSpPr>
          <p:nvPr>
            <p:ph sz="quarter" idx="4"/>
          </p:nvPr>
        </p:nvSpPr>
        <p:spPr>
          <a:xfrm>
            <a:off x="914400" y="2316067"/>
            <a:ext cx="10511627" cy="3948557"/>
          </a:xfrm>
        </p:spPr>
        <p:txBody>
          <a:bodyPr>
            <a:normAutofit/>
          </a:bodyPr>
          <a:lstStyle/>
          <a:p>
            <a:pPr>
              <a:buFont typeface="Arial" panose="020B0604020202020204" pitchFamily="34" charset="0"/>
              <a:buChar char="•"/>
            </a:pPr>
            <a:r>
              <a:rPr lang="en-US" b="1" dirty="0"/>
              <a:t>Objective:</a:t>
            </a:r>
            <a:endParaRPr lang="en-US" dirty="0"/>
          </a:p>
          <a:p>
            <a:pPr marL="742950" lvl="1" indent="-285750">
              <a:buFont typeface="Arial" panose="020B0604020202020204" pitchFamily="34" charset="0"/>
              <a:buChar char="•"/>
            </a:pPr>
            <a:r>
              <a:rPr lang="en-US" dirty="0"/>
              <a:t>To develop machine learning models to analyze theater customer behavior and predict retention rates.</a:t>
            </a:r>
          </a:p>
          <a:p>
            <a:pPr marL="742950" lvl="1" indent="-285750">
              <a:buFont typeface="Arial" panose="020B0604020202020204" pitchFamily="34" charset="0"/>
              <a:buChar char="•"/>
            </a:pPr>
            <a:r>
              <a:rPr lang="en-US" dirty="0"/>
              <a:t>Evaluate various models for regression, classification, and clustering tasks to determine the best approach for customer retention prediction.</a:t>
            </a:r>
          </a:p>
          <a:p>
            <a:pPr>
              <a:buFont typeface="Arial" panose="020B0604020202020204" pitchFamily="34" charset="0"/>
              <a:buChar char="•"/>
            </a:pPr>
            <a:r>
              <a:rPr lang="en-US" b="1" dirty="0"/>
              <a:t>Dataset Overview:</a:t>
            </a:r>
            <a:endParaRPr lang="en-US" dirty="0"/>
          </a:p>
          <a:p>
            <a:pPr marL="742950" lvl="1" indent="-285750">
              <a:buFont typeface="Arial" panose="020B0604020202020204" pitchFamily="34" charset="0"/>
              <a:buChar char="•"/>
            </a:pPr>
            <a:r>
              <a:rPr lang="en-US" dirty="0"/>
              <a:t>The dataset includes customer demographics, transaction history, visit frequency, and behavior-related features.</a:t>
            </a:r>
          </a:p>
          <a:p>
            <a:pPr marL="742950" lvl="1" indent="-285750">
              <a:buFont typeface="Arial" panose="020B0604020202020204" pitchFamily="34" charset="0"/>
              <a:buChar char="•"/>
            </a:pPr>
            <a:r>
              <a:rPr lang="en-US" dirty="0"/>
              <a:t>Focus on predicting customer retention and segmenting customers based on their behavior patterns.</a:t>
            </a:r>
          </a:p>
          <a:p>
            <a:endParaRPr lang="en-IN" dirty="0"/>
          </a:p>
        </p:txBody>
      </p:sp>
      <p:sp>
        <p:nvSpPr>
          <p:cNvPr id="4" name="Slide Number Placeholder 3">
            <a:extLst>
              <a:ext uri="{FF2B5EF4-FFF2-40B4-BE49-F238E27FC236}">
                <a16:creationId xmlns:a16="http://schemas.microsoft.com/office/drawing/2014/main" id="{DB0ADCB7-C90D-0F95-4722-3297D586657D}"/>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2</a:t>
            </a:fld>
            <a:endParaRPr lang="en-US"/>
          </a:p>
        </p:txBody>
      </p:sp>
    </p:spTree>
    <p:extLst>
      <p:ext uri="{BB962C8B-B14F-4D97-AF65-F5344CB8AC3E}">
        <p14:creationId xmlns:p14="http://schemas.microsoft.com/office/powerpoint/2010/main" val="1535976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4220E-54AE-F884-40EE-C9ADB450D8EA}"/>
              </a:ext>
            </a:extLst>
          </p:cNvPr>
          <p:cNvSpPr>
            <a:spLocks noGrp="1"/>
          </p:cNvSpPr>
          <p:nvPr>
            <p:ph type="title"/>
          </p:nvPr>
        </p:nvSpPr>
        <p:spPr>
          <a:xfrm>
            <a:off x="914400" y="1057274"/>
            <a:ext cx="10511627" cy="1012785"/>
          </a:xfrm>
        </p:spPr>
        <p:txBody>
          <a:bodyPr anchor="b">
            <a:normAutofit/>
          </a:bodyPr>
          <a:lstStyle/>
          <a:p>
            <a:pPr>
              <a:lnSpc>
                <a:spcPct val="90000"/>
              </a:lnSpc>
            </a:pPr>
            <a:r>
              <a:rPr lang="en-IN" b="1" dirty="0"/>
              <a:t>Data Preprocessing</a:t>
            </a:r>
            <a:br>
              <a:rPr lang="en-IN" b="1" dirty="0"/>
            </a:br>
            <a:endParaRPr lang="en-IN"/>
          </a:p>
        </p:txBody>
      </p:sp>
      <p:sp>
        <p:nvSpPr>
          <p:cNvPr id="3" name="Content Placeholder 2">
            <a:extLst>
              <a:ext uri="{FF2B5EF4-FFF2-40B4-BE49-F238E27FC236}">
                <a16:creationId xmlns:a16="http://schemas.microsoft.com/office/drawing/2014/main" id="{0C412FA3-6C0D-DA08-80B2-37FAFC6D4836}"/>
              </a:ext>
            </a:extLst>
          </p:cNvPr>
          <p:cNvSpPr>
            <a:spLocks noGrp="1"/>
          </p:cNvSpPr>
          <p:nvPr>
            <p:ph sz="quarter" idx="4"/>
          </p:nvPr>
        </p:nvSpPr>
        <p:spPr>
          <a:xfrm>
            <a:off x="914400" y="2316067"/>
            <a:ext cx="10511627" cy="4084734"/>
          </a:xfrm>
        </p:spPr>
        <p:txBody>
          <a:bodyPr>
            <a:normAutofit/>
          </a:bodyPr>
          <a:lstStyle/>
          <a:p>
            <a:pPr>
              <a:buFont typeface="Arial" panose="020B0604020202020204" pitchFamily="34" charset="0"/>
              <a:buChar char="•"/>
            </a:pPr>
            <a:r>
              <a:rPr lang="en-US" sz="2600" b="1" dirty="0"/>
              <a:t>Preprocessing Steps : </a:t>
            </a:r>
          </a:p>
          <a:p>
            <a:pPr>
              <a:buFont typeface="Arial" panose="020B0604020202020204" pitchFamily="34" charset="0"/>
              <a:buChar char="•"/>
            </a:pPr>
            <a:r>
              <a:rPr lang="en-US" sz="2000" b="1" dirty="0"/>
              <a:t>Handling Missing Data:</a:t>
            </a:r>
            <a:r>
              <a:rPr lang="en-US" sz="2000" dirty="0"/>
              <a:t> </a:t>
            </a:r>
            <a:r>
              <a:rPr lang="en-US" sz="2000" dirty="0">
                <a:solidFill>
                  <a:schemeClr val="tx1"/>
                </a:solidFill>
              </a:rPr>
              <a:t>Imputed missing values for categorical and numerical variables.</a:t>
            </a:r>
          </a:p>
          <a:p>
            <a:pPr>
              <a:buFont typeface="Arial" panose="020B0604020202020204" pitchFamily="34" charset="0"/>
              <a:buChar char="•"/>
            </a:pPr>
            <a:r>
              <a:rPr lang="en-US" sz="2000" b="1" dirty="0"/>
              <a:t>Feature Encoding:</a:t>
            </a:r>
            <a:r>
              <a:rPr lang="en-US" sz="2000" dirty="0"/>
              <a:t> </a:t>
            </a:r>
            <a:r>
              <a:rPr lang="en-US" sz="2000" dirty="0">
                <a:solidFill>
                  <a:schemeClr val="tx1"/>
                </a:solidFill>
              </a:rPr>
              <a:t>Categorical variables were encoded using one-hot encoding.</a:t>
            </a:r>
          </a:p>
          <a:p>
            <a:pPr>
              <a:buFont typeface="Arial" panose="020B0604020202020204" pitchFamily="34" charset="0"/>
              <a:buChar char="•"/>
            </a:pPr>
            <a:r>
              <a:rPr lang="en-US" sz="2000" b="1" dirty="0"/>
              <a:t>Normalization &amp; Scaling:</a:t>
            </a:r>
            <a:r>
              <a:rPr lang="en-US" sz="2000" dirty="0"/>
              <a:t> </a:t>
            </a:r>
            <a:r>
              <a:rPr lang="en-US" sz="2000" dirty="0">
                <a:solidFill>
                  <a:schemeClr val="tx1"/>
                </a:solidFill>
              </a:rPr>
              <a:t>Numerical features were scaled for model consistency.</a:t>
            </a:r>
          </a:p>
          <a:p>
            <a:pPr>
              <a:buFont typeface="Arial" panose="020B0604020202020204" pitchFamily="34" charset="0"/>
              <a:buChar char="•"/>
            </a:pPr>
            <a:r>
              <a:rPr lang="en-US" sz="2000" b="1" dirty="0"/>
              <a:t>Exploratory Data Analysis (EDA):</a:t>
            </a:r>
            <a:endParaRPr lang="en-US" sz="2000" dirty="0"/>
          </a:p>
          <a:p>
            <a:pPr marL="742950" lvl="1" indent="-285750">
              <a:buFont typeface="Arial" panose="020B0604020202020204" pitchFamily="34" charset="0"/>
              <a:buChar char="•"/>
            </a:pPr>
            <a:r>
              <a:rPr lang="en-US" sz="2000" dirty="0">
                <a:solidFill>
                  <a:schemeClr val="tx1"/>
                </a:solidFill>
              </a:rPr>
              <a:t>Distribution and correlations of features like age, frequency of visits, and customer preferences.</a:t>
            </a:r>
          </a:p>
        </p:txBody>
      </p:sp>
      <p:sp>
        <p:nvSpPr>
          <p:cNvPr id="4" name="Slide Number Placeholder 3">
            <a:extLst>
              <a:ext uri="{FF2B5EF4-FFF2-40B4-BE49-F238E27FC236}">
                <a16:creationId xmlns:a16="http://schemas.microsoft.com/office/drawing/2014/main" id="{B0BECE73-6D9A-2D78-BD7D-AA8FA34E51E6}"/>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3</a:t>
            </a:fld>
            <a:endParaRPr lang="en-US"/>
          </a:p>
        </p:txBody>
      </p:sp>
    </p:spTree>
    <p:extLst>
      <p:ext uri="{BB962C8B-B14F-4D97-AF65-F5344CB8AC3E}">
        <p14:creationId xmlns:p14="http://schemas.microsoft.com/office/powerpoint/2010/main" val="294238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EC0A8-6C88-619A-0391-D90FA4A059CC}"/>
              </a:ext>
            </a:extLst>
          </p:cNvPr>
          <p:cNvSpPr>
            <a:spLocks noGrp="1"/>
          </p:cNvSpPr>
          <p:nvPr>
            <p:ph type="title"/>
          </p:nvPr>
        </p:nvSpPr>
        <p:spPr>
          <a:xfrm>
            <a:off x="2573078" y="692943"/>
            <a:ext cx="8852947" cy="994164"/>
          </a:xfrm>
        </p:spPr>
        <p:txBody>
          <a:bodyPr anchor="b">
            <a:normAutofit/>
          </a:bodyPr>
          <a:lstStyle/>
          <a:p>
            <a:pPr>
              <a:lnSpc>
                <a:spcPct val="90000"/>
              </a:lnSpc>
            </a:pPr>
            <a:r>
              <a:rPr lang="en-IN" dirty="0"/>
              <a:t>Classification Models Built</a:t>
            </a:r>
            <a:endParaRPr lang="en-IN"/>
          </a:p>
        </p:txBody>
      </p:sp>
      <p:sp>
        <p:nvSpPr>
          <p:cNvPr id="5" name="Rectangle 1">
            <a:extLst>
              <a:ext uri="{FF2B5EF4-FFF2-40B4-BE49-F238E27FC236}">
                <a16:creationId xmlns:a16="http://schemas.microsoft.com/office/drawing/2014/main" id="{12B69A66-31C1-227A-B2D9-B33231CFCB18}"/>
              </a:ext>
            </a:extLst>
          </p:cNvPr>
          <p:cNvSpPr>
            <a:spLocks noGrp="1" noChangeArrowheads="1"/>
          </p:cNvSpPr>
          <p:nvPr>
            <p:ph sz="half" idx="2"/>
          </p:nvPr>
        </p:nvSpPr>
        <p:spPr bwMode="auto">
          <a:xfrm>
            <a:off x="3460564" y="2303028"/>
            <a:ext cx="7965461" cy="402334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400" b="1" i="0" u="none" strike="noStrike" cap="none" normalizeH="0" baseline="0" dirty="0">
                <a:ln>
                  <a:noFill/>
                </a:ln>
                <a:effectLst/>
              </a:rPr>
              <a:t>Models Used:</a:t>
            </a:r>
          </a:p>
          <a:p>
            <a:pPr marL="0" indent="0" eaLnBrk="0" fontAlgn="base" hangingPunct="0">
              <a:spcBef>
                <a:spcPct val="0"/>
              </a:spcBef>
              <a:spcAft>
                <a:spcPts val="600"/>
              </a:spcAft>
              <a:buFontTx/>
              <a:buChar char="•"/>
            </a:pPr>
            <a:r>
              <a:rPr kumimoji="0" lang="en-US" altLang="en-US" i="0" u="none" strike="noStrike" cap="none" normalizeH="0" baseline="0" dirty="0">
                <a:ln>
                  <a:noFill/>
                </a:ln>
                <a:effectLst/>
              </a:rPr>
              <a:t>Decision Tree Classifier</a:t>
            </a:r>
          </a:p>
          <a:p>
            <a:pPr marL="0" marR="0" lvl="0" indent="0" defTabSz="914400" rtl="0" eaLnBrk="0" fontAlgn="base" latinLnBrk="0" hangingPunct="0">
              <a:spcBef>
                <a:spcPct val="0"/>
              </a:spcBef>
              <a:spcAft>
                <a:spcPts val="600"/>
              </a:spcAft>
              <a:buClrTx/>
              <a:buSzTx/>
              <a:buFontTx/>
              <a:buChar char="•"/>
              <a:tabLst/>
            </a:pPr>
            <a:r>
              <a:rPr kumimoji="0" lang="en-US" altLang="en-US" i="0" u="none" strike="noStrike" cap="none" normalizeH="0" baseline="0" dirty="0">
                <a:ln>
                  <a:noFill/>
                </a:ln>
                <a:effectLst/>
              </a:rPr>
              <a:t>Logistic Regression</a:t>
            </a:r>
          </a:p>
          <a:p>
            <a:pPr marL="0" marR="0" lvl="0" indent="0" defTabSz="914400" rtl="0" eaLnBrk="0" fontAlgn="base" latinLnBrk="0" hangingPunct="0">
              <a:spcBef>
                <a:spcPct val="0"/>
              </a:spcBef>
              <a:spcAft>
                <a:spcPts val="600"/>
              </a:spcAft>
              <a:buClrTx/>
              <a:buSzTx/>
              <a:buFontTx/>
              <a:buChar char="•"/>
              <a:tabLst/>
            </a:pPr>
            <a:r>
              <a:rPr kumimoji="0" lang="en-US" altLang="en-US" i="0" u="none" strike="noStrike" cap="none" normalizeH="0" baseline="0" dirty="0">
                <a:ln>
                  <a:noFill/>
                </a:ln>
                <a:effectLst/>
              </a:rPr>
              <a:t>Random Forest Classifier</a:t>
            </a:r>
          </a:p>
          <a:p>
            <a:pPr marL="0" marR="0" lvl="0" indent="0" defTabSz="914400" rtl="0" eaLnBrk="0" fontAlgn="base" latinLnBrk="0" hangingPunct="0">
              <a:spcBef>
                <a:spcPct val="0"/>
              </a:spcBef>
              <a:spcAft>
                <a:spcPts val="600"/>
              </a:spcAft>
              <a:buClrTx/>
              <a:buSzTx/>
              <a:buFontTx/>
              <a:buChar char="•"/>
              <a:tabLst/>
            </a:pPr>
            <a:r>
              <a:rPr kumimoji="0" lang="en-US" altLang="en-US" sz="2400" b="1" i="0" u="none" strike="noStrike" cap="none" normalizeH="0" baseline="0" dirty="0">
                <a:ln>
                  <a:noFill/>
                </a:ln>
                <a:effectLst/>
              </a:rPr>
              <a:t>Evaluation Metrics:</a:t>
            </a:r>
            <a:endParaRPr kumimoji="0" lang="en-US" altLang="en-US" sz="24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Accuracy, Precision, Recall, F1-Score, AUC (ROC)</a:t>
            </a:r>
            <a:r>
              <a:rPr kumimoji="0" lang="en-US" altLang="en-US" b="0" i="0" u="none" strike="noStrike" cap="none" normalizeH="0" baseline="0" dirty="0">
                <a:ln>
                  <a:noFill/>
                </a:ln>
                <a:effectLst/>
              </a:rPr>
              <a:t> to evaluate model performance.</a:t>
            </a:r>
          </a:p>
        </p:txBody>
      </p:sp>
      <p:sp>
        <p:nvSpPr>
          <p:cNvPr id="4" name="Slide Number Placeholder 3">
            <a:extLst>
              <a:ext uri="{FF2B5EF4-FFF2-40B4-BE49-F238E27FC236}">
                <a16:creationId xmlns:a16="http://schemas.microsoft.com/office/drawing/2014/main" id="{630F02EC-F6FC-86DC-6DE8-50DDB0B43AC4}"/>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4</a:t>
            </a:fld>
            <a:endParaRPr lang="en-US"/>
          </a:p>
        </p:txBody>
      </p:sp>
    </p:spTree>
    <p:extLst>
      <p:ext uri="{BB962C8B-B14F-4D97-AF65-F5344CB8AC3E}">
        <p14:creationId xmlns:p14="http://schemas.microsoft.com/office/powerpoint/2010/main" val="167257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3CDD-C0C0-1B8F-1256-8822F01E89E5}"/>
              </a:ext>
            </a:extLst>
          </p:cNvPr>
          <p:cNvSpPr>
            <a:spLocks noGrp="1"/>
          </p:cNvSpPr>
          <p:nvPr>
            <p:ph type="title"/>
          </p:nvPr>
        </p:nvSpPr>
        <p:spPr>
          <a:xfrm>
            <a:off x="765974" y="18258"/>
            <a:ext cx="10511627" cy="1012785"/>
          </a:xfrm>
        </p:spPr>
        <p:txBody>
          <a:bodyPr anchor="b">
            <a:normAutofit/>
          </a:bodyPr>
          <a:lstStyle/>
          <a:p>
            <a:r>
              <a:rPr kumimoji="0" lang="en-US" altLang="en-US" b="1" i="0" u="none" strike="noStrike" cap="none" normalizeH="0" baseline="0" dirty="0">
                <a:ln>
                  <a:noFill/>
                </a:ln>
                <a:effectLst/>
              </a:rPr>
              <a:t>Decision Tree Classifier</a:t>
            </a:r>
            <a:endParaRPr lang="en-IN" dirty="0"/>
          </a:p>
        </p:txBody>
      </p:sp>
      <p:pic>
        <p:nvPicPr>
          <p:cNvPr id="6" name="Content Placeholder 5">
            <a:extLst>
              <a:ext uri="{FF2B5EF4-FFF2-40B4-BE49-F238E27FC236}">
                <a16:creationId xmlns:a16="http://schemas.microsoft.com/office/drawing/2014/main" id="{8A154581-AB8C-9AAE-D710-441D7E65696F}"/>
              </a:ext>
            </a:extLst>
          </p:cNvPr>
          <p:cNvPicPr>
            <a:picLocks noGrp="1" noChangeAspect="1"/>
          </p:cNvPicPr>
          <p:nvPr>
            <p:ph sz="quarter" idx="4"/>
          </p:nvPr>
        </p:nvPicPr>
        <p:blipFill>
          <a:blip r:embed="rId2"/>
          <a:stretch>
            <a:fillRect/>
          </a:stretch>
        </p:blipFill>
        <p:spPr>
          <a:xfrm>
            <a:off x="1461730" y="1116419"/>
            <a:ext cx="9268539" cy="5723323"/>
          </a:xfrm>
          <a:noFill/>
        </p:spPr>
      </p:pic>
      <p:sp>
        <p:nvSpPr>
          <p:cNvPr id="4" name="Slide Number Placeholder 3">
            <a:extLst>
              <a:ext uri="{FF2B5EF4-FFF2-40B4-BE49-F238E27FC236}">
                <a16:creationId xmlns:a16="http://schemas.microsoft.com/office/drawing/2014/main" id="{544D4011-A04C-07EE-8B0D-3DB43E1B0A60}"/>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5</a:t>
            </a:fld>
            <a:endParaRPr lang="en-US"/>
          </a:p>
        </p:txBody>
      </p:sp>
    </p:spTree>
    <p:extLst>
      <p:ext uri="{BB962C8B-B14F-4D97-AF65-F5344CB8AC3E}">
        <p14:creationId xmlns:p14="http://schemas.microsoft.com/office/powerpoint/2010/main" val="3680782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A196-D0B2-4BF3-E189-FD81DBEA3AC6}"/>
              </a:ext>
            </a:extLst>
          </p:cNvPr>
          <p:cNvSpPr>
            <a:spLocks noGrp="1"/>
          </p:cNvSpPr>
          <p:nvPr>
            <p:ph type="title"/>
          </p:nvPr>
        </p:nvSpPr>
        <p:spPr>
          <a:xfrm>
            <a:off x="840186" y="457199"/>
            <a:ext cx="10511627" cy="1012785"/>
          </a:xfrm>
        </p:spPr>
        <p:txBody>
          <a:bodyPr anchor="b">
            <a:normAutofit/>
          </a:bodyPr>
          <a:lstStyle/>
          <a:p>
            <a:r>
              <a:rPr lang="en-US" dirty="0"/>
              <a:t>FEATURE IMPORTANCE</a:t>
            </a:r>
            <a:endParaRPr lang="en-IN" dirty="0"/>
          </a:p>
        </p:txBody>
      </p:sp>
      <p:pic>
        <p:nvPicPr>
          <p:cNvPr id="6" name="Content Placeholder 5">
            <a:extLst>
              <a:ext uri="{FF2B5EF4-FFF2-40B4-BE49-F238E27FC236}">
                <a16:creationId xmlns:a16="http://schemas.microsoft.com/office/drawing/2014/main" id="{2DC7F31F-0051-1D4E-5D4D-F5D3CAD7ADCA}"/>
              </a:ext>
            </a:extLst>
          </p:cNvPr>
          <p:cNvPicPr>
            <a:picLocks noGrp="1" noChangeAspect="1"/>
          </p:cNvPicPr>
          <p:nvPr>
            <p:ph sz="quarter" idx="4"/>
          </p:nvPr>
        </p:nvPicPr>
        <p:blipFill>
          <a:blip r:embed="rId2"/>
          <a:stretch>
            <a:fillRect/>
          </a:stretch>
        </p:blipFill>
        <p:spPr>
          <a:xfrm>
            <a:off x="1602027" y="1544412"/>
            <a:ext cx="9404581" cy="5313588"/>
          </a:xfrm>
          <a:noFill/>
        </p:spPr>
      </p:pic>
      <p:sp>
        <p:nvSpPr>
          <p:cNvPr id="4" name="Slide Number Placeholder 3">
            <a:extLst>
              <a:ext uri="{FF2B5EF4-FFF2-40B4-BE49-F238E27FC236}">
                <a16:creationId xmlns:a16="http://schemas.microsoft.com/office/drawing/2014/main" id="{2AEFB064-5476-C168-10AB-FC5AB6F78E99}"/>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6</a:t>
            </a:fld>
            <a:endParaRPr lang="en-US"/>
          </a:p>
        </p:txBody>
      </p:sp>
    </p:spTree>
    <p:extLst>
      <p:ext uri="{BB962C8B-B14F-4D97-AF65-F5344CB8AC3E}">
        <p14:creationId xmlns:p14="http://schemas.microsoft.com/office/powerpoint/2010/main" val="3144228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E5B69-7D23-C5FB-8641-12A4FA7D94BD}"/>
              </a:ext>
            </a:extLst>
          </p:cNvPr>
          <p:cNvSpPr>
            <a:spLocks noGrp="1"/>
          </p:cNvSpPr>
          <p:nvPr>
            <p:ph type="title"/>
          </p:nvPr>
        </p:nvSpPr>
        <p:spPr>
          <a:xfrm>
            <a:off x="914005" y="457199"/>
            <a:ext cx="10511627" cy="1012785"/>
          </a:xfrm>
        </p:spPr>
        <p:txBody>
          <a:bodyPr/>
          <a:lstStyle/>
          <a:p>
            <a:r>
              <a:rPr lang="en-US" dirty="0"/>
              <a:t>Logistic Regression</a:t>
            </a:r>
            <a:endParaRPr lang="en-IN" dirty="0"/>
          </a:p>
        </p:txBody>
      </p:sp>
      <p:pic>
        <p:nvPicPr>
          <p:cNvPr id="6" name="Content Placeholder 5">
            <a:extLst>
              <a:ext uri="{FF2B5EF4-FFF2-40B4-BE49-F238E27FC236}">
                <a16:creationId xmlns:a16="http://schemas.microsoft.com/office/drawing/2014/main" id="{AA28CDD9-7FD8-5674-7740-90A2F42CE943}"/>
              </a:ext>
            </a:extLst>
          </p:cNvPr>
          <p:cNvPicPr>
            <a:picLocks noGrp="1" noChangeAspect="1"/>
          </p:cNvPicPr>
          <p:nvPr>
            <p:ph sz="quarter" idx="4"/>
          </p:nvPr>
        </p:nvPicPr>
        <p:blipFill>
          <a:blip r:embed="rId2"/>
          <a:stretch>
            <a:fillRect/>
          </a:stretch>
        </p:blipFill>
        <p:spPr>
          <a:xfrm>
            <a:off x="2729586" y="1646311"/>
            <a:ext cx="6732827" cy="5041567"/>
          </a:xfrm>
        </p:spPr>
      </p:pic>
      <p:sp>
        <p:nvSpPr>
          <p:cNvPr id="4" name="Slide Number Placeholder 3">
            <a:extLst>
              <a:ext uri="{FF2B5EF4-FFF2-40B4-BE49-F238E27FC236}">
                <a16:creationId xmlns:a16="http://schemas.microsoft.com/office/drawing/2014/main" id="{AEB76DB5-1D3B-DC90-57E2-A90E8306BE30}"/>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3352576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C1D16-F933-1DCB-82FC-C2BBC83D66ED}"/>
              </a:ext>
            </a:extLst>
          </p:cNvPr>
          <p:cNvSpPr>
            <a:spLocks noGrp="1"/>
          </p:cNvSpPr>
          <p:nvPr>
            <p:ph type="title"/>
          </p:nvPr>
        </p:nvSpPr>
        <p:spPr>
          <a:xfrm>
            <a:off x="914005" y="418324"/>
            <a:ext cx="10511627" cy="1012785"/>
          </a:xfrm>
        </p:spPr>
        <p:txBody>
          <a:bodyPr/>
          <a:lstStyle/>
          <a:p>
            <a:r>
              <a:rPr lang="en-US" dirty="0"/>
              <a:t>Random forest classifier</a:t>
            </a:r>
            <a:endParaRPr lang="en-IN" dirty="0"/>
          </a:p>
        </p:txBody>
      </p:sp>
      <p:pic>
        <p:nvPicPr>
          <p:cNvPr id="6" name="Content Placeholder 5">
            <a:extLst>
              <a:ext uri="{FF2B5EF4-FFF2-40B4-BE49-F238E27FC236}">
                <a16:creationId xmlns:a16="http://schemas.microsoft.com/office/drawing/2014/main" id="{C79B3C13-85A7-B673-B0AF-860EDF73B422}"/>
              </a:ext>
            </a:extLst>
          </p:cNvPr>
          <p:cNvPicPr>
            <a:picLocks noGrp="1" noChangeAspect="1"/>
          </p:cNvPicPr>
          <p:nvPr>
            <p:ph sz="quarter" idx="4"/>
          </p:nvPr>
        </p:nvPicPr>
        <p:blipFill>
          <a:blip r:embed="rId2"/>
          <a:stretch>
            <a:fillRect/>
          </a:stretch>
        </p:blipFill>
        <p:spPr>
          <a:xfrm>
            <a:off x="2690398" y="1688842"/>
            <a:ext cx="6602458" cy="4957980"/>
          </a:xfrm>
        </p:spPr>
      </p:pic>
      <p:sp>
        <p:nvSpPr>
          <p:cNvPr id="4" name="Slide Number Placeholder 3">
            <a:extLst>
              <a:ext uri="{FF2B5EF4-FFF2-40B4-BE49-F238E27FC236}">
                <a16:creationId xmlns:a16="http://schemas.microsoft.com/office/drawing/2014/main" id="{E0DC4583-E923-BF85-757F-2C44B3C10389}"/>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43330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1769D-28BC-4B39-23FC-5772D5F358FC}"/>
              </a:ext>
            </a:extLst>
          </p:cNvPr>
          <p:cNvSpPr>
            <a:spLocks noGrp="1"/>
          </p:cNvSpPr>
          <p:nvPr>
            <p:ph type="title"/>
          </p:nvPr>
        </p:nvSpPr>
        <p:spPr>
          <a:xfrm>
            <a:off x="1550564" y="1057274"/>
            <a:ext cx="9875463" cy="999746"/>
          </a:xfrm>
        </p:spPr>
        <p:txBody>
          <a:bodyPr vert="horz" lIns="91440" tIns="0" rIns="91440" bIns="0" rtlCol="0" anchor="b" anchorCtr="0">
            <a:normAutofit/>
          </a:bodyPr>
          <a:lstStyle/>
          <a:p>
            <a:pPr>
              <a:lnSpc>
                <a:spcPct val="90000"/>
              </a:lnSpc>
            </a:pPr>
            <a:r>
              <a:rPr lang="en-US" b="1" kern="1200" cap="all" baseline="0">
                <a:latin typeface="+mj-lt"/>
                <a:ea typeface="+mj-ea"/>
                <a:cs typeface="+mj-cs"/>
              </a:rPr>
              <a:t>Classification Model Performance</a:t>
            </a:r>
          </a:p>
        </p:txBody>
      </p:sp>
      <p:sp>
        <p:nvSpPr>
          <p:cNvPr id="7" name="TextBox 6">
            <a:extLst>
              <a:ext uri="{FF2B5EF4-FFF2-40B4-BE49-F238E27FC236}">
                <a16:creationId xmlns:a16="http://schemas.microsoft.com/office/drawing/2014/main" id="{0AFBD286-F6C9-A519-591D-6FF4D0EFF5AC}"/>
              </a:ext>
            </a:extLst>
          </p:cNvPr>
          <p:cNvSpPr txBox="1"/>
          <p:nvPr/>
        </p:nvSpPr>
        <p:spPr>
          <a:xfrm>
            <a:off x="1275907" y="4976702"/>
            <a:ext cx="10150120" cy="1648047"/>
          </a:xfrm>
          <a:prstGeom prst="rect">
            <a:avLst/>
          </a:prstGeom>
        </p:spPr>
        <p:txBody>
          <a:bodyPr vert="horz" lIns="91440" tIns="0" rIns="91440" bIns="0" rtlCol="0" anchorCtr="0">
            <a:normAutofit/>
          </a:bodyPr>
          <a:lstStyle/>
          <a:p>
            <a:pPr marL="347472" marR="0" lvl="0" indent="-347472" defTabSz="914400" fontAlgn="base">
              <a:spcBef>
                <a:spcPts val="1000"/>
              </a:spcBef>
              <a:spcAft>
                <a:spcPts val="1200"/>
              </a:spcAft>
              <a:buClrTx/>
              <a:buSzTx/>
              <a:buFont typeface="Arial" panose="020B0604020202020204" pitchFamily="34" charset="0"/>
              <a:buChar char="•"/>
              <a:tabLst/>
            </a:pPr>
            <a:r>
              <a:rPr kumimoji="0" lang="en-US" altLang="en-US" b="1" i="0" u="none" strike="noStrike" cap="none" normalizeH="0" baseline="0" dirty="0">
                <a:ln>
                  <a:noFill/>
                </a:ln>
                <a:solidFill>
                  <a:schemeClr val="accent6"/>
                </a:solidFill>
                <a:effectLst/>
              </a:rPr>
              <a:t>Metrics Comparison:</a:t>
            </a:r>
            <a:endParaRPr kumimoji="0" lang="en-US" altLang="en-US" b="0" i="0" u="none" strike="noStrike" cap="none" normalizeH="0" baseline="0" dirty="0">
              <a:ln>
                <a:noFill/>
              </a:ln>
              <a:solidFill>
                <a:schemeClr val="accent6"/>
              </a:solidFill>
              <a:effectLst/>
            </a:endParaRPr>
          </a:p>
          <a:p>
            <a:pPr marL="347472" marR="0" lvl="0" indent="-347472" defTabSz="914400" fontAlgn="base">
              <a:spcBef>
                <a:spcPts val="1000"/>
              </a:spcBef>
              <a:spcAft>
                <a:spcPts val="1200"/>
              </a:spcAft>
              <a:buClrTx/>
              <a:buSzTx/>
              <a:buFont typeface="Arial" panose="020B0604020202020204" pitchFamily="34" charset="0"/>
              <a:buChar char="•"/>
              <a:tabLst/>
            </a:pPr>
            <a:r>
              <a:rPr kumimoji="0" lang="en-US" altLang="en-US" b="1" i="0" u="none" strike="noStrike" cap="none" normalizeH="0" baseline="0" dirty="0">
                <a:ln>
                  <a:noFill/>
                </a:ln>
                <a:solidFill>
                  <a:schemeClr val="accent6"/>
                </a:solidFill>
                <a:effectLst/>
              </a:rPr>
              <a:t>Best Model Insight:</a:t>
            </a:r>
            <a:r>
              <a:rPr kumimoji="0" lang="en-US" altLang="en-US" b="0" i="0" u="none" strike="noStrike" cap="none" normalizeH="0" baseline="0" dirty="0">
                <a:ln>
                  <a:noFill/>
                </a:ln>
                <a:solidFill>
                  <a:schemeClr val="accent6"/>
                </a:solidFill>
                <a:effectLst/>
              </a:rPr>
              <a:t> Random Forest Classifier achieved the highest accuracy (0.97) and AUC (0.97), confirming it as the best model for customer retention prediction.</a:t>
            </a:r>
          </a:p>
        </p:txBody>
      </p:sp>
      <p:sp>
        <p:nvSpPr>
          <p:cNvPr id="4" name="Slide Number Placeholder 3">
            <a:extLst>
              <a:ext uri="{FF2B5EF4-FFF2-40B4-BE49-F238E27FC236}">
                <a16:creationId xmlns:a16="http://schemas.microsoft.com/office/drawing/2014/main" id="{3EA0388A-9C99-24BC-EDFA-5ED12A566569}"/>
              </a:ext>
            </a:extLst>
          </p:cNvPr>
          <p:cNvSpPr>
            <a:spLocks noGrp="1"/>
          </p:cNvSpPr>
          <p:nvPr>
            <p:ph type="sldNum" sz="quarter" idx="10"/>
          </p:nvPr>
        </p:nvSpPr>
        <p:spPr>
          <a:xfrm>
            <a:off x="10438475" y="457199"/>
            <a:ext cx="987552"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9</a:t>
            </a:fld>
            <a:endParaRPr lang="en-US"/>
          </a:p>
        </p:txBody>
      </p:sp>
      <p:graphicFrame>
        <p:nvGraphicFramePr>
          <p:cNvPr id="5" name="Content Placeholder 4">
            <a:extLst>
              <a:ext uri="{FF2B5EF4-FFF2-40B4-BE49-F238E27FC236}">
                <a16:creationId xmlns:a16="http://schemas.microsoft.com/office/drawing/2014/main" id="{8B85A5D6-31C7-7163-F2C2-3D30F2BA37E5}"/>
              </a:ext>
            </a:extLst>
          </p:cNvPr>
          <p:cNvGraphicFramePr>
            <a:graphicFrameLocks noGrp="1"/>
          </p:cNvGraphicFramePr>
          <p:nvPr>
            <p:ph sz="half" idx="2"/>
            <p:extLst>
              <p:ext uri="{D42A27DB-BD31-4B8C-83A1-F6EECF244321}">
                <p14:modId xmlns:p14="http://schemas.microsoft.com/office/powerpoint/2010/main" val="3395309695"/>
              </p:ext>
            </p:extLst>
          </p:nvPr>
        </p:nvGraphicFramePr>
        <p:xfrm>
          <a:off x="1550564" y="2286001"/>
          <a:ext cx="9305277" cy="2285999"/>
        </p:xfrm>
        <a:graphic>
          <a:graphicData uri="http://schemas.openxmlformats.org/drawingml/2006/table">
            <a:tbl>
              <a:tblPr firstRow="1" bandRow="1">
                <a:solidFill>
                  <a:schemeClr val="accent1">
                    <a:lumMod val="20000"/>
                    <a:lumOff val="80000"/>
                  </a:schemeClr>
                </a:solidFill>
              </a:tblPr>
              <a:tblGrid>
                <a:gridCol w="1737062">
                  <a:extLst>
                    <a:ext uri="{9D8B030D-6E8A-4147-A177-3AD203B41FA5}">
                      <a16:colId xmlns:a16="http://schemas.microsoft.com/office/drawing/2014/main" val="3393415670"/>
                    </a:ext>
                  </a:extLst>
                </a:gridCol>
                <a:gridCol w="1812334">
                  <a:extLst>
                    <a:ext uri="{9D8B030D-6E8A-4147-A177-3AD203B41FA5}">
                      <a16:colId xmlns:a16="http://schemas.microsoft.com/office/drawing/2014/main" val="2582439361"/>
                    </a:ext>
                  </a:extLst>
                </a:gridCol>
                <a:gridCol w="1781448">
                  <a:extLst>
                    <a:ext uri="{9D8B030D-6E8A-4147-A177-3AD203B41FA5}">
                      <a16:colId xmlns:a16="http://schemas.microsoft.com/office/drawing/2014/main" val="2578498260"/>
                    </a:ext>
                  </a:extLst>
                </a:gridCol>
                <a:gridCol w="1447779">
                  <a:extLst>
                    <a:ext uri="{9D8B030D-6E8A-4147-A177-3AD203B41FA5}">
                      <a16:colId xmlns:a16="http://schemas.microsoft.com/office/drawing/2014/main" val="1915403628"/>
                    </a:ext>
                  </a:extLst>
                </a:gridCol>
                <a:gridCol w="1332932">
                  <a:extLst>
                    <a:ext uri="{9D8B030D-6E8A-4147-A177-3AD203B41FA5}">
                      <a16:colId xmlns:a16="http://schemas.microsoft.com/office/drawing/2014/main" val="2289158077"/>
                    </a:ext>
                  </a:extLst>
                </a:gridCol>
                <a:gridCol w="1193722">
                  <a:extLst>
                    <a:ext uri="{9D8B030D-6E8A-4147-A177-3AD203B41FA5}">
                      <a16:colId xmlns:a16="http://schemas.microsoft.com/office/drawing/2014/main" val="1360135036"/>
                    </a:ext>
                  </a:extLst>
                </a:gridCol>
              </a:tblGrid>
              <a:tr h="499170">
                <a:tc>
                  <a:txBody>
                    <a:bodyPr/>
                    <a:lstStyle/>
                    <a:p>
                      <a:r>
                        <a:rPr lang="en-IN" sz="1000" b="1" cap="all" spc="60">
                          <a:solidFill>
                            <a:schemeClr val="tx1"/>
                          </a:solidFill>
                        </a:rPr>
                        <a:t>Model</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000" b="1" cap="all" spc="60">
                          <a:solidFill>
                            <a:schemeClr val="tx1"/>
                          </a:solidFill>
                        </a:rPr>
                        <a:t>Accuracy</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000" b="1" cap="all" spc="60">
                          <a:solidFill>
                            <a:schemeClr val="tx1"/>
                          </a:solidFill>
                        </a:rPr>
                        <a:t>Precision</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000" b="1" cap="all" spc="60">
                          <a:solidFill>
                            <a:schemeClr val="tx1"/>
                          </a:solidFill>
                        </a:rPr>
                        <a:t>Recall</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000" b="1" cap="all" spc="60">
                          <a:solidFill>
                            <a:schemeClr val="tx1"/>
                          </a:solidFill>
                        </a:rPr>
                        <a:t>F1-Score</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000" b="1" cap="all" spc="60">
                          <a:solidFill>
                            <a:schemeClr val="tx1"/>
                          </a:solidFill>
                        </a:rPr>
                        <a:t>AUC (ROC)</a:t>
                      </a:r>
                    </a:p>
                  </a:txBody>
                  <a:tcPr marL="117728" marR="117728" marT="117728" marB="11772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64135900"/>
                  </a:ext>
                </a:extLst>
              </a:tr>
              <a:tr h="475689">
                <a:tc>
                  <a:txBody>
                    <a:bodyPr/>
                    <a:lstStyle/>
                    <a:p>
                      <a:r>
                        <a:rPr lang="en-IN" sz="1400" cap="none" spc="0">
                          <a:solidFill>
                            <a:schemeClr val="tx1"/>
                          </a:solidFill>
                        </a:rPr>
                        <a:t>Logistic Regression</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0.93</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0.87</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0.75</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0.79</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0.93</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37725479"/>
                  </a:ext>
                </a:extLst>
              </a:tr>
              <a:tr h="655570">
                <a:tc>
                  <a:txBody>
                    <a:bodyPr/>
                    <a:lstStyle/>
                    <a:p>
                      <a:r>
                        <a:rPr lang="en-IN" sz="1400" cap="none" spc="0">
                          <a:solidFill>
                            <a:schemeClr val="tx1"/>
                          </a:solidFill>
                        </a:rPr>
                        <a:t>Decision Tree Classifier</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r>
                        <a:rPr lang="en-IN" sz="1400" cap="none" spc="0" dirty="0">
                          <a:solidFill>
                            <a:schemeClr val="tx1"/>
                          </a:solidFill>
                        </a:rPr>
                        <a:t>0.95</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r>
                        <a:rPr lang="en-IN" sz="1400" cap="none" spc="0" dirty="0">
                          <a:solidFill>
                            <a:schemeClr val="tx1"/>
                          </a:solidFill>
                        </a:rPr>
                        <a:t>0.89</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r>
                        <a:rPr lang="en-IN" sz="1400" cap="none" spc="0" dirty="0">
                          <a:solidFill>
                            <a:schemeClr val="tx1"/>
                          </a:solidFill>
                        </a:rPr>
                        <a:t>0.88</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r>
                        <a:rPr lang="en-IN" sz="1400" cap="none" spc="0" dirty="0">
                          <a:solidFill>
                            <a:schemeClr val="tx1"/>
                          </a:solidFill>
                        </a:rPr>
                        <a:t>0.89</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r>
                        <a:rPr lang="en-IN" sz="1400" cap="none" spc="0" dirty="0">
                          <a:solidFill>
                            <a:schemeClr val="tx1"/>
                          </a:solidFill>
                        </a:rPr>
                        <a:t>0.88</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1293023446"/>
                  </a:ext>
                </a:extLst>
              </a:tr>
              <a:tr h="655570">
                <a:tc>
                  <a:txBody>
                    <a:bodyPr/>
                    <a:lstStyle/>
                    <a:p>
                      <a:r>
                        <a:rPr lang="en-IN" sz="1400" cap="none" spc="0">
                          <a:solidFill>
                            <a:schemeClr val="tx1"/>
                          </a:solidFill>
                        </a:rPr>
                        <a:t>Random Forest Classifier</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0.97</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0.94</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0.89</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0.91</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400" cap="none" spc="0" dirty="0">
                          <a:solidFill>
                            <a:schemeClr val="tx1"/>
                          </a:solidFill>
                        </a:rPr>
                        <a:t>0.97</a:t>
                      </a:r>
                    </a:p>
                  </a:txBody>
                  <a:tcPr marL="50003" marR="50003" marT="25001" marB="7848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60726641"/>
                  </a:ext>
                </a:extLst>
              </a:tr>
            </a:tbl>
          </a:graphicData>
        </a:graphic>
      </p:graphicFrame>
    </p:spTree>
    <p:extLst>
      <p:ext uri="{BB962C8B-B14F-4D97-AF65-F5344CB8AC3E}">
        <p14:creationId xmlns:p14="http://schemas.microsoft.com/office/powerpoint/2010/main" val="3474913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A482-37C8-86BB-2CDE-342D89AEC454}"/>
              </a:ext>
            </a:extLst>
          </p:cNvPr>
          <p:cNvSpPr>
            <a:spLocks noGrp="1"/>
          </p:cNvSpPr>
          <p:nvPr>
            <p:ph type="title"/>
          </p:nvPr>
        </p:nvSpPr>
        <p:spPr>
          <a:xfrm>
            <a:off x="914399" y="457199"/>
            <a:ext cx="10511627" cy="1012785"/>
          </a:xfrm>
        </p:spPr>
        <p:txBody>
          <a:bodyPr anchor="b">
            <a:normAutofit/>
          </a:bodyPr>
          <a:lstStyle/>
          <a:p>
            <a:r>
              <a:rPr lang="en-US" dirty="0"/>
              <a:t>ROC Curve</a:t>
            </a:r>
            <a:endParaRPr lang="en-IN" dirty="0"/>
          </a:p>
        </p:txBody>
      </p:sp>
      <p:pic>
        <p:nvPicPr>
          <p:cNvPr id="7" name="Content Placeholder 6" descr="A graph of a line graph&#10;&#10;Description automatically generated with medium confidence">
            <a:extLst>
              <a:ext uri="{FF2B5EF4-FFF2-40B4-BE49-F238E27FC236}">
                <a16:creationId xmlns:a16="http://schemas.microsoft.com/office/drawing/2014/main" id="{0E92B250-7E90-E4D0-3226-CFC2E7BDF2FD}"/>
              </a:ext>
            </a:extLst>
          </p:cNvPr>
          <p:cNvPicPr>
            <a:picLocks noGrp="1" noChangeAspect="1"/>
          </p:cNvPicPr>
          <p:nvPr>
            <p:ph sz="quarter" idx="4"/>
          </p:nvPr>
        </p:nvPicPr>
        <p:blipFill>
          <a:blip r:embed="rId2"/>
          <a:stretch>
            <a:fillRect/>
          </a:stretch>
        </p:blipFill>
        <p:spPr>
          <a:xfrm>
            <a:off x="1912964" y="1522888"/>
            <a:ext cx="8304924" cy="5066003"/>
          </a:xfrm>
          <a:noFill/>
        </p:spPr>
      </p:pic>
      <p:sp>
        <p:nvSpPr>
          <p:cNvPr id="5" name="Slide Number Placeholder 4">
            <a:extLst>
              <a:ext uri="{FF2B5EF4-FFF2-40B4-BE49-F238E27FC236}">
                <a16:creationId xmlns:a16="http://schemas.microsoft.com/office/drawing/2014/main" id="{CA5CB379-19D3-4482-6061-7ACDFD74FF2D}"/>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10</a:t>
            </a:fld>
            <a:endParaRPr lang="en-US"/>
          </a:p>
        </p:txBody>
      </p:sp>
    </p:spTree>
    <p:extLst>
      <p:ext uri="{BB962C8B-B14F-4D97-AF65-F5344CB8AC3E}">
        <p14:creationId xmlns:p14="http://schemas.microsoft.com/office/powerpoint/2010/main" val="95473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293F1-6201-C9AC-A95C-BFFF1E453CF5}"/>
              </a:ext>
            </a:extLst>
          </p:cNvPr>
          <p:cNvSpPr>
            <a:spLocks noGrp="1"/>
          </p:cNvSpPr>
          <p:nvPr>
            <p:ph type="title"/>
          </p:nvPr>
        </p:nvSpPr>
        <p:spPr>
          <a:xfrm>
            <a:off x="914400" y="1057274"/>
            <a:ext cx="10511627" cy="1012785"/>
          </a:xfrm>
        </p:spPr>
        <p:txBody>
          <a:bodyPr anchor="b">
            <a:normAutofit/>
          </a:bodyPr>
          <a:lstStyle/>
          <a:p>
            <a:r>
              <a:rPr lang="en-IN" dirty="0"/>
              <a:t>Regression Models Built</a:t>
            </a:r>
          </a:p>
        </p:txBody>
      </p:sp>
      <p:sp>
        <p:nvSpPr>
          <p:cNvPr id="3" name="Content Placeholder 2">
            <a:extLst>
              <a:ext uri="{FF2B5EF4-FFF2-40B4-BE49-F238E27FC236}">
                <a16:creationId xmlns:a16="http://schemas.microsoft.com/office/drawing/2014/main" id="{54F0C4F5-7A2C-5BDC-95B6-B3F14695071C}"/>
              </a:ext>
            </a:extLst>
          </p:cNvPr>
          <p:cNvSpPr>
            <a:spLocks noGrp="1"/>
          </p:cNvSpPr>
          <p:nvPr>
            <p:ph sz="quarter" idx="4"/>
          </p:nvPr>
        </p:nvSpPr>
        <p:spPr>
          <a:xfrm>
            <a:off x="1860698" y="2541181"/>
            <a:ext cx="9565329" cy="3965945"/>
          </a:xfrm>
        </p:spPr>
        <p:txBody>
          <a:bodyPr>
            <a:normAutofit/>
          </a:bodyPr>
          <a:lstStyle/>
          <a:p>
            <a:pPr>
              <a:buFont typeface="Arial" panose="020B0604020202020204" pitchFamily="34" charset="0"/>
              <a:buChar char="•"/>
            </a:pPr>
            <a:r>
              <a:rPr lang="en-US" sz="2400" b="1" dirty="0"/>
              <a:t>Models Used:</a:t>
            </a:r>
            <a:endParaRPr lang="en-US" sz="2400" dirty="0"/>
          </a:p>
          <a:p>
            <a:pPr marL="742950" lvl="1" indent="-285750">
              <a:buFont typeface="Arial" panose="020B0604020202020204" pitchFamily="34" charset="0"/>
              <a:buChar char="•"/>
            </a:pPr>
            <a:r>
              <a:rPr lang="en-US" b="1" dirty="0">
                <a:solidFill>
                  <a:schemeClr val="tx1"/>
                </a:solidFill>
              </a:rPr>
              <a:t>Linear Regression</a:t>
            </a:r>
            <a:endParaRPr lang="en-US" dirty="0">
              <a:solidFill>
                <a:schemeClr val="tx1"/>
              </a:solidFill>
            </a:endParaRPr>
          </a:p>
          <a:p>
            <a:pPr marL="742950" lvl="1" indent="-285750">
              <a:buFont typeface="Arial" panose="020B0604020202020204" pitchFamily="34" charset="0"/>
              <a:buChar char="•"/>
            </a:pPr>
            <a:r>
              <a:rPr lang="en-US" b="1" dirty="0">
                <a:solidFill>
                  <a:schemeClr val="tx1"/>
                </a:solidFill>
              </a:rPr>
              <a:t>Random Forest Regression</a:t>
            </a:r>
            <a:endParaRPr lang="en-US" dirty="0">
              <a:solidFill>
                <a:schemeClr val="tx1"/>
              </a:solidFill>
            </a:endParaRPr>
          </a:p>
          <a:p>
            <a:pPr>
              <a:buFont typeface="Arial" panose="020B0604020202020204" pitchFamily="34" charset="0"/>
              <a:buChar char="•"/>
            </a:pPr>
            <a:r>
              <a:rPr lang="en-US" sz="2400" b="1" dirty="0"/>
              <a:t>Evaluation Metrics:</a:t>
            </a:r>
            <a:endParaRPr lang="en-US" sz="2400" dirty="0"/>
          </a:p>
          <a:p>
            <a:pPr marL="742950" lvl="1" indent="-285750">
              <a:buFont typeface="Arial" panose="020B0604020202020204" pitchFamily="34" charset="0"/>
              <a:buChar char="•"/>
            </a:pPr>
            <a:r>
              <a:rPr lang="en-US" b="1" dirty="0">
                <a:solidFill>
                  <a:schemeClr val="tx1"/>
                </a:solidFill>
              </a:rPr>
              <a:t>R-Squared, MSE, RMSE, MAE</a:t>
            </a:r>
            <a:r>
              <a:rPr lang="en-US" dirty="0">
                <a:solidFill>
                  <a:schemeClr val="tx1"/>
                </a:solidFill>
              </a:rPr>
              <a:t> for assessing model accuracy and predictive performance.</a:t>
            </a:r>
          </a:p>
        </p:txBody>
      </p:sp>
      <p:sp>
        <p:nvSpPr>
          <p:cNvPr id="4" name="Slide Number Placeholder 3">
            <a:extLst>
              <a:ext uri="{FF2B5EF4-FFF2-40B4-BE49-F238E27FC236}">
                <a16:creationId xmlns:a16="http://schemas.microsoft.com/office/drawing/2014/main" id="{28FCE9CD-C311-14E7-BEF5-E9077F45DE0E}"/>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11</a:t>
            </a:fld>
            <a:endParaRPr lang="en-US"/>
          </a:p>
        </p:txBody>
      </p:sp>
    </p:spTree>
    <p:extLst>
      <p:ext uri="{BB962C8B-B14F-4D97-AF65-F5344CB8AC3E}">
        <p14:creationId xmlns:p14="http://schemas.microsoft.com/office/powerpoint/2010/main" val="4119516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86211-930B-CA26-8622-64756FE19B85}"/>
              </a:ext>
            </a:extLst>
          </p:cNvPr>
          <p:cNvSpPr>
            <a:spLocks noGrp="1"/>
          </p:cNvSpPr>
          <p:nvPr>
            <p:ph type="title"/>
          </p:nvPr>
        </p:nvSpPr>
        <p:spPr>
          <a:xfrm>
            <a:off x="914004" y="457199"/>
            <a:ext cx="10511627" cy="1012785"/>
          </a:xfrm>
        </p:spPr>
        <p:txBody>
          <a:bodyPr/>
          <a:lstStyle/>
          <a:p>
            <a:r>
              <a:rPr lang="en-US" dirty="0"/>
              <a:t>Random forest regressor</a:t>
            </a:r>
            <a:endParaRPr lang="en-IN" dirty="0"/>
          </a:p>
        </p:txBody>
      </p:sp>
      <p:pic>
        <p:nvPicPr>
          <p:cNvPr id="6" name="Content Placeholder 5">
            <a:extLst>
              <a:ext uri="{FF2B5EF4-FFF2-40B4-BE49-F238E27FC236}">
                <a16:creationId xmlns:a16="http://schemas.microsoft.com/office/drawing/2014/main" id="{7AD26B24-B0FE-1B3B-29B7-E0E4D87F8BA0}"/>
              </a:ext>
            </a:extLst>
          </p:cNvPr>
          <p:cNvPicPr>
            <a:picLocks noGrp="1" noChangeAspect="1"/>
          </p:cNvPicPr>
          <p:nvPr>
            <p:ph sz="quarter" idx="4"/>
          </p:nvPr>
        </p:nvPicPr>
        <p:blipFill>
          <a:blip r:embed="rId2"/>
          <a:stretch>
            <a:fillRect/>
          </a:stretch>
        </p:blipFill>
        <p:spPr>
          <a:xfrm>
            <a:off x="1688155" y="1511300"/>
            <a:ext cx="9146421" cy="5346700"/>
          </a:xfrm>
        </p:spPr>
      </p:pic>
      <p:sp>
        <p:nvSpPr>
          <p:cNvPr id="4" name="Slide Number Placeholder 3">
            <a:extLst>
              <a:ext uri="{FF2B5EF4-FFF2-40B4-BE49-F238E27FC236}">
                <a16:creationId xmlns:a16="http://schemas.microsoft.com/office/drawing/2014/main" id="{C709CDD4-5FEE-4494-A3C5-0006BE678E1E}"/>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144701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14B90-BE30-FDD8-5AC9-727DFCE3B3C9}"/>
              </a:ext>
            </a:extLst>
          </p:cNvPr>
          <p:cNvSpPr>
            <a:spLocks noGrp="1"/>
          </p:cNvSpPr>
          <p:nvPr>
            <p:ph type="title"/>
          </p:nvPr>
        </p:nvSpPr>
        <p:spPr>
          <a:xfrm>
            <a:off x="840186" y="422295"/>
            <a:ext cx="10511627" cy="1012785"/>
          </a:xfrm>
        </p:spPr>
        <p:txBody>
          <a:bodyPr anchor="b">
            <a:normAutofit/>
          </a:bodyPr>
          <a:lstStyle/>
          <a:p>
            <a:r>
              <a:rPr lang="en-US" dirty="0"/>
              <a:t>Linear regression</a:t>
            </a:r>
            <a:endParaRPr lang="en-IN" dirty="0"/>
          </a:p>
        </p:txBody>
      </p:sp>
      <p:pic>
        <p:nvPicPr>
          <p:cNvPr id="6" name="Content Placeholder 5" descr="A graph with a red line and blue dots&#10;&#10;Description automatically generated">
            <a:extLst>
              <a:ext uri="{FF2B5EF4-FFF2-40B4-BE49-F238E27FC236}">
                <a16:creationId xmlns:a16="http://schemas.microsoft.com/office/drawing/2014/main" id="{EFF9BB0A-97F6-E4D9-420B-FD100D7BD96D}"/>
              </a:ext>
            </a:extLst>
          </p:cNvPr>
          <p:cNvPicPr>
            <a:picLocks noGrp="1" noChangeAspect="1"/>
          </p:cNvPicPr>
          <p:nvPr>
            <p:ph sz="quarter" idx="4"/>
          </p:nvPr>
        </p:nvPicPr>
        <p:blipFill>
          <a:blip r:embed="rId2"/>
          <a:stretch>
            <a:fillRect/>
          </a:stretch>
        </p:blipFill>
        <p:spPr>
          <a:xfrm>
            <a:off x="2275367" y="1499925"/>
            <a:ext cx="7559749" cy="5348524"/>
          </a:xfrm>
          <a:noFill/>
        </p:spPr>
      </p:pic>
      <p:sp>
        <p:nvSpPr>
          <p:cNvPr id="4" name="Slide Number Placeholder 3">
            <a:extLst>
              <a:ext uri="{FF2B5EF4-FFF2-40B4-BE49-F238E27FC236}">
                <a16:creationId xmlns:a16="http://schemas.microsoft.com/office/drawing/2014/main" id="{0F1F60EE-AE50-F960-F61D-84654141B184}"/>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13</a:t>
            </a:fld>
            <a:endParaRPr lang="en-US"/>
          </a:p>
        </p:txBody>
      </p:sp>
    </p:spTree>
    <p:extLst>
      <p:ext uri="{BB962C8B-B14F-4D97-AF65-F5344CB8AC3E}">
        <p14:creationId xmlns:p14="http://schemas.microsoft.com/office/powerpoint/2010/main" val="3881336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637AD-93B5-BC65-CFAE-1223A07660C1}"/>
              </a:ext>
            </a:extLst>
          </p:cNvPr>
          <p:cNvSpPr>
            <a:spLocks noGrp="1"/>
          </p:cNvSpPr>
          <p:nvPr>
            <p:ph type="title"/>
          </p:nvPr>
        </p:nvSpPr>
        <p:spPr>
          <a:xfrm>
            <a:off x="1550564" y="1057274"/>
            <a:ext cx="9875463" cy="999746"/>
          </a:xfrm>
        </p:spPr>
        <p:txBody>
          <a:bodyPr anchor="b">
            <a:normAutofit/>
          </a:bodyPr>
          <a:lstStyle/>
          <a:p>
            <a:r>
              <a:rPr lang="en-IN" dirty="0"/>
              <a:t>Regression Model Performance</a:t>
            </a:r>
          </a:p>
        </p:txBody>
      </p:sp>
      <p:sp>
        <p:nvSpPr>
          <p:cNvPr id="11" name="Text Placeholder 2">
            <a:extLst>
              <a:ext uri="{FF2B5EF4-FFF2-40B4-BE49-F238E27FC236}">
                <a16:creationId xmlns:a16="http://schemas.microsoft.com/office/drawing/2014/main" id="{31B96798-CB78-8032-FDB3-FEE9709384C5}"/>
              </a:ext>
            </a:extLst>
          </p:cNvPr>
          <p:cNvSpPr>
            <a:spLocks noGrp="1"/>
          </p:cNvSpPr>
          <p:nvPr>
            <p:ph sz="half" idx="15"/>
          </p:nvPr>
        </p:nvSpPr>
        <p:spPr>
          <a:xfrm>
            <a:off x="2029140" y="5542761"/>
            <a:ext cx="8911763" cy="1163186"/>
          </a:xfrm>
        </p:spPr>
        <p:txBody>
          <a:bodyPr>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Best Model Insight:</a:t>
            </a:r>
            <a:r>
              <a:rPr kumimoji="0" lang="en-US" altLang="en-US" b="0" i="0" u="none" strike="noStrike" cap="none" normalizeH="0" baseline="0" dirty="0">
                <a:ln>
                  <a:noFill/>
                </a:ln>
                <a:effectLst/>
              </a:rPr>
              <a:t> Random Forest Regression outperformed other models with an R-Squared of 0.53, offering the most accurate predictions for customer retention.</a:t>
            </a:r>
          </a:p>
        </p:txBody>
      </p:sp>
      <p:sp>
        <p:nvSpPr>
          <p:cNvPr id="4" name="Slide Number Placeholder 3">
            <a:extLst>
              <a:ext uri="{FF2B5EF4-FFF2-40B4-BE49-F238E27FC236}">
                <a16:creationId xmlns:a16="http://schemas.microsoft.com/office/drawing/2014/main" id="{C121D917-3DDF-E41D-2885-83E27B0C0A36}"/>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14</a:t>
            </a:fld>
            <a:endParaRPr lang="en-US"/>
          </a:p>
        </p:txBody>
      </p:sp>
      <p:graphicFrame>
        <p:nvGraphicFramePr>
          <p:cNvPr id="5" name="Content Placeholder 4">
            <a:extLst>
              <a:ext uri="{FF2B5EF4-FFF2-40B4-BE49-F238E27FC236}">
                <a16:creationId xmlns:a16="http://schemas.microsoft.com/office/drawing/2014/main" id="{99BC09A7-D3DC-FB55-E7CC-BA00F2154494}"/>
              </a:ext>
            </a:extLst>
          </p:cNvPr>
          <p:cNvGraphicFramePr>
            <a:graphicFrameLocks noGrp="1"/>
          </p:cNvGraphicFramePr>
          <p:nvPr>
            <p:ph sz="half" idx="2"/>
            <p:extLst>
              <p:ext uri="{D42A27DB-BD31-4B8C-83A1-F6EECF244321}">
                <p14:modId xmlns:p14="http://schemas.microsoft.com/office/powerpoint/2010/main" val="579936328"/>
              </p:ext>
            </p:extLst>
          </p:nvPr>
        </p:nvGraphicFramePr>
        <p:xfrm>
          <a:off x="1922814" y="2456121"/>
          <a:ext cx="8358870" cy="2344859"/>
        </p:xfrm>
        <a:graphic>
          <a:graphicData uri="http://schemas.openxmlformats.org/drawingml/2006/table">
            <a:tbl>
              <a:tblPr firstRow="1" bandRow="1">
                <a:noFill/>
              </a:tblPr>
              <a:tblGrid>
                <a:gridCol w="2159004">
                  <a:extLst>
                    <a:ext uri="{9D8B030D-6E8A-4147-A177-3AD203B41FA5}">
                      <a16:colId xmlns:a16="http://schemas.microsoft.com/office/drawing/2014/main" val="3178390985"/>
                    </a:ext>
                  </a:extLst>
                </a:gridCol>
                <a:gridCol w="2713308">
                  <a:extLst>
                    <a:ext uri="{9D8B030D-6E8A-4147-A177-3AD203B41FA5}">
                      <a16:colId xmlns:a16="http://schemas.microsoft.com/office/drawing/2014/main" val="2492812936"/>
                    </a:ext>
                  </a:extLst>
                </a:gridCol>
                <a:gridCol w="1599161">
                  <a:extLst>
                    <a:ext uri="{9D8B030D-6E8A-4147-A177-3AD203B41FA5}">
                      <a16:colId xmlns:a16="http://schemas.microsoft.com/office/drawing/2014/main" val="2080950937"/>
                    </a:ext>
                  </a:extLst>
                </a:gridCol>
                <a:gridCol w="1887397">
                  <a:extLst>
                    <a:ext uri="{9D8B030D-6E8A-4147-A177-3AD203B41FA5}">
                      <a16:colId xmlns:a16="http://schemas.microsoft.com/office/drawing/2014/main" val="1626943519"/>
                    </a:ext>
                  </a:extLst>
                </a:gridCol>
              </a:tblGrid>
              <a:tr h="587811">
                <a:tc>
                  <a:txBody>
                    <a:bodyPr/>
                    <a:lstStyle/>
                    <a:p>
                      <a:r>
                        <a:rPr lang="en-IN" sz="1800" b="0" cap="all" spc="150">
                          <a:solidFill>
                            <a:schemeClr val="lt1"/>
                          </a:solidFill>
                        </a:rPr>
                        <a:t>Model</a:t>
                      </a:r>
                    </a:p>
                  </a:txBody>
                  <a:tcPr marL="140172" marR="140172" marT="140172" marB="140172" anchor="ctr">
                    <a:lnL w="12700" cmpd="sng">
                      <a:noFill/>
                    </a:lnL>
                    <a:lnR w="12700" cmpd="sng">
                      <a:noFill/>
                      <a:prstDash val="solid"/>
                    </a:lnR>
                    <a:lnT w="12700" cmpd="sng">
                      <a:noFill/>
                    </a:lnT>
                    <a:lnB w="12700" cmpd="sng">
                      <a:noFill/>
                      <a:prstDash val="solid"/>
                    </a:lnB>
                    <a:solidFill>
                      <a:srgbClr val="505356"/>
                    </a:solidFill>
                  </a:tcPr>
                </a:tc>
                <a:tc>
                  <a:txBody>
                    <a:bodyPr/>
                    <a:lstStyle/>
                    <a:p>
                      <a:r>
                        <a:rPr lang="en-IN" sz="1800" b="0" cap="all" spc="150">
                          <a:solidFill>
                            <a:schemeClr val="lt1"/>
                          </a:solidFill>
                        </a:rPr>
                        <a:t>R-Squared</a:t>
                      </a:r>
                    </a:p>
                  </a:txBody>
                  <a:tcPr marL="140172" marR="140172" marT="140172" marB="140172" anchor="ctr">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IN" sz="1800" b="0" cap="all" spc="150" dirty="0">
                          <a:solidFill>
                            <a:schemeClr val="lt1"/>
                          </a:solidFill>
                        </a:rPr>
                        <a:t>MSE</a:t>
                      </a:r>
                    </a:p>
                  </a:txBody>
                  <a:tcPr marL="140172" marR="140172" marT="140172" marB="140172" anchor="ctr">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IN" sz="1800" b="0" cap="all" spc="150" dirty="0">
                          <a:solidFill>
                            <a:schemeClr val="lt1"/>
                          </a:solidFill>
                        </a:rPr>
                        <a:t>RMSE</a:t>
                      </a:r>
                    </a:p>
                  </a:txBody>
                  <a:tcPr marL="140172" marR="140172" marT="140172" marB="140172" anchor="ctr">
                    <a:lnL w="12700" cmpd="sng">
                      <a:noFill/>
                      <a:prstDash val="solid"/>
                    </a:lnL>
                    <a:lnR w="12700" cmpd="sng">
                      <a:noFill/>
                      <a:prstDash val="solid"/>
                    </a:lnR>
                    <a:lnT w="12700" cmpd="sng">
                      <a:noFill/>
                    </a:lnT>
                    <a:lnB w="12700" cmpd="sng">
                      <a:noFill/>
                      <a:prstDash val="solid"/>
                    </a:lnB>
                    <a:solidFill>
                      <a:srgbClr val="505356"/>
                    </a:solidFill>
                  </a:tcPr>
                </a:tc>
                <a:extLst>
                  <a:ext uri="{0D108BD9-81ED-4DB2-BD59-A6C34878D82A}">
                    <a16:rowId xmlns:a16="http://schemas.microsoft.com/office/drawing/2014/main" val="667334712"/>
                  </a:ext>
                </a:extLst>
              </a:tr>
              <a:tr h="878524">
                <a:tc>
                  <a:txBody>
                    <a:bodyPr/>
                    <a:lstStyle/>
                    <a:p>
                      <a:r>
                        <a:rPr lang="en-IN" sz="1800" cap="none" spc="0" dirty="0">
                          <a:solidFill>
                            <a:schemeClr val="tx1"/>
                          </a:solidFill>
                        </a:rPr>
                        <a:t>Linear Regression</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800" cap="none" spc="0" dirty="0">
                          <a:solidFill>
                            <a:schemeClr val="tx1"/>
                          </a:solidFill>
                        </a:rPr>
                        <a:t>0.31</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dirty="0">
                          <a:solidFill>
                            <a:schemeClr val="tx1"/>
                          </a:solidFill>
                        </a:rPr>
                        <a:t>1</a:t>
                      </a:r>
                      <a:r>
                        <a:rPr lang="en-IN" sz="1800" cap="none" spc="0" dirty="0">
                          <a:solidFill>
                            <a:schemeClr val="tx1"/>
                          </a:solidFill>
                        </a:rPr>
                        <a:t>034.93</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800" cap="none" spc="0" dirty="0">
                          <a:solidFill>
                            <a:schemeClr val="tx1"/>
                          </a:solidFill>
                        </a:rPr>
                        <a:t>32.17</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42323708"/>
                  </a:ext>
                </a:extLst>
              </a:tr>
              <a:tr h="878524">
                <a:tc>
                  <a:txBody>
                    <a:bodyPr/>
                    <a:lstStyle/>
                    <a:p>
                      <a:r>
                        <a:rPr lang="en-IN" sz="1800" cap="none" spc="0">
                          <a:solidFill>
                            <a:schemeClr val="tx1"/>
                          </a:solidFill>
                        </a:rPr>
                        <a:t>Random Forest Regression</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IN" sz="1800" cap="none" spc="0" dirty="0">
                          <a:solidFill>
                            <a:schemeClr val="tx1"/>
                          </a:solidFill>
                        </a:rPr>
                        <a:t>0.53</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800" cap="none" spc="0" dirty="0">
                          <a:solidFill>
                            <a:schemeClr val="tx1"/>
                          </a:solidFill>
                        </a:rPr>
                        <a:t>7</a:t>
                      </a:r>
                      <a:r>
                        <a:rPr lang="en-IN" sz="1800" cap="none" spc="0" dirty="0">
                          <a:solidFill>
                            <a:schemeClr val="tx1"/>
                          </a:solidFill>
                        </a:rPr>
                        <a:t>66.48</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800" cap="none" spc="0" dirty="0">
                          <a:solidFill>
                            <a:schemeClr val="tx1"/>
                          </a:solidFill>
                        </a:rPr>
                        <a:t>2</a:t>
                      </a:r>
                      <a:r>
                        <a:rPr lang="en-IN" sz="1800" cap="none" spc="0" dirty="0">
                          <a:solidFill>
                            <a:schemeClr val="tx1"/>
                          </a:solidFill>
                        </a:rPr>
                        <a:t>7.69</a:t>
                      </a:r>
                    </a:p>
                  </a:txBody>
                  <a:tcPr marL="140172" marR="140172" marT="140172" marB="1401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199372826"/>
                  </a:ext>
                </a:extLst>
              </a:tr>
            </a:tbl>
          </a:graphicData>
        </a:graphic>
      </p:graphicFrame>
    </p:spTree>
    <p:extLst>
      <p:ext uri="{BB962C8B-B14F-4D97-AF65-F5344CB8AC3E}">
        <p14:creationId xmlns:p14="http://schemas.microsoft.com/office/powerpoint/2010/main" val="3083006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C220C-B825-9437-8055-CA95968FD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8D359-DB1E-0923-440C-26A5F034374D}"/>
              </a:ext>
            </a:extLst>
          </p:cNvPr>
          <p:cNvSpPr>
            <a:spLocks noGrp="1"/>
          </p:cNvSpPr>
          <p:nvPr>
            <p:ph type="title"/>
          </p:nvPr>
        </p:nvSpPr>
        <p:spPr>
          <a:xfrm>
            <a:off x="914400" y="1057274"/>
            <a:ext cx="10511627" cy="1012785"/>
          </a:xfrm>
        </p:spPr>
        <p:txBody>
          <a:bodyPr anchor="b">
            <a:normAutofit/>
          </a:bodyPr>
          <a:lstStyle/>
          <a:p>
            <a:r>
              <a:rPr lang="en-IN" dirty="0"/>
              <a:t>Clustering Models Built</a:t>
            </a:r>
          </a:p>
        </p:txBody>
      </p:sp>
      <p:sp>
        <p:nvSpPr>
          <p:cNvPr id="5" name="Rectangle 1">
            <a:extLst>
              <a:ext uri="{FF2B5EF4-FFF2-40B4-BE49-F238E27FC236}">
                <a16:creationId xmlns:a16="http://schemas.microsoft.com/office/drawing/2014/main" id="{73557DAE-4728-B298-9031-FBD8E9C24163}"/>
              </a:ext>
            </a:extLst>
          </p:cNvPr>
          <p:cNvSpPr>
            <a:spLocks noGrp="1" noChangeArrowheads="1"/>
          </p:cNvSpPr>
          <p:nvPr>
            <p:ph sz="quarter" idx="4"/>
          </p:nvPr>
        </p:nvSpPr>
        <p:spPr bwMode="auto">
          <a:xfrm>
            <a:off x="914400" y="2316067"/>
            <a:ext cx="10511627" cy="394855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buFont typeface="Arial" panose="020B0604020202020204" pitchFamily="34" charset="0"/>
              <a:buChar char="•"/>
            </a:pPr>
            <a:r>
              <a:rPr lang="en-IN" b="1" dirty="0"/>
              <a:t>Models Used:</a:t>
            </a:r>
            <a:endParaRPr lang="en-IN" dirty="0"/>
          </a:p>
          <a:p>
            <a:pPr marL="742950" lvl="1" indent="-285750">
              <a:buFont typeface="Arial" panose="020B0604020202020204" pitchFamily="34" charset="0"/>
              <a:buChar char="•"/>
            </a:pPr>
            <a:r>
              <a:rPr lang="en-IN" b="1" dirty="0"/>
              <a:t>K-Means Clustering</a:t>
            </a:r>
            <a:endParaRPr lang="en-IN" dirty="0"/>
          </a:p>
          <a:p>
            <a:pPr>
              <a:buFont typeface="Arial" panose="020B0604020202020204" pitchFamily="34" charset="0"/>
              <a:buChar char="•"/>
            </a:pPr>
            <a:r>
              <a:rPr lang="en-IN" b="1" dirty="0"/>
              <a:t>Evaluation Metrics:</a:t>
            </a:r>
            <a:endParaRPr lang="en-IN" dirty="0"/>
          </a:p>
          <a:p>
            <a:pPr marL="742950" lvl="1" indent="-285750">
              <a:buFont typeface="Arial" panose="020B0604020202020204" pitchFamily="34" charset="0"/>
              <a:buChar char="•"/>
            </a:pPr>
            <a:r>
              <a:rPr lang="en-IN" b="1" dirty="0"/>
              <a:t>Elbow Methos for Optimal k-value.</a:t>
            </a:r>
          </a:p>
          <a:p>
            <a:pPr marL="742950" lvl="1" indent="-285750">
              <a:buFont typeface="Arial" panose="020B0604020202020204" pitchFamily="34" charset="0"/>
              <a:buChar char="•"/>
            </a:pPr>
            <a:r>
              <a:rPr lang="en-IN" b="1" dirty="0"/>
              <a:t>Silhouette Score</a:t>
            </a:r>
          </a:p>
          <a:p>
            <a:pPr marL="742950" lvl="1" indent="-285750">
              <a:buFont typeface="Arial" panose="020B0604020202020204" pitchFamily="34" charset="0"/>
              <a:buChar char="•"/>
            </a:pPr>
            <a:r>
              <a:rPr lang="en-IN" b="1" dirty="0"/>
              <a:t>Accuracy :</a:t>
            </a:r>
            <a:r>
              <a:rPr lang="en-IN" b="1" dirty="0">
                <a:solidFill>
                  <a:schemeClr val="tx1"/>
                </a:solidFill>
              </a:rPr>
              <a:t> 0.99</a:t>
            </a:r>
            <a:endParaRPr lang="en-IN" dirty="0">
              <a:solidFill>
                <a:schemeClr val="tx1"/>
              </a:solidFill>
            </a:endParaRPr>
          </a:p>
        </p:txBody>
      </p:sp>
      <p:sp>
        <p:nvSpPr>
          <p:cNvPr id="4" name="Slide Number Placeholder 3">
            <a:extLst>
              <a:ext uri="{FF2B5EF4-FFF2-40B4-BE49-F238E27FC236}">
                <a16:creationId xmlns:a16="http://schemas.microsoft.com/office/drawing/2014/main" id="{169B27AD-36B0-6C22-DFE9-47DD002F8049}"/>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15</a:t>
            </a:fld>
            <a:endParaRPr lang="en-US"/>
          </a:p>
        </p:txBody>
      </p:sp>
    </p:spTree>
    <p:extLst>
      <p:ext uri="{BB962C8B-B14F-4D97-AF65-F5344CB8AC3E}">
        <p14:creationId xmlns:p14="http://schemas.microsoft.com/office/powerpoint/2010/main" val="3978434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529C-2421-09F0-CB7C-C647C0556653}"/>
              </a:ext>
            </a:extLst>
          </p:cNvPr>
          <p:cNvSpPr>
            <a:spLocks noGrp="1"/>
          </p:cNvSpPr>
          <p:nvPr>
            <p:ph type="title"/>
          </p:nvPr>
        </p:nvSpPr>
        <p:spPr>
          <a:xfrm>
            <a:off x="914005" y="422295"/>
            <a:ext cx="10511627" cy="1012785"/>
          </a:xfrm>
        </p:spPr>
        <p:txBody>
          <a:bodyPr/>
          <a:lstStyle/>
          <a:p>
            <a:r>
              <a:rPr lang="en-US" dirty="0"/>
              <a:t>Elbow method for optimal k value</a:t>
            </a:r>
            <a:endParaRPr lang="en-IN" dirty="0"/>
          </a:p>
        </p:txBody>
      </p:sp>
      <p:pic>
        <p:nvPicPr>
          <p:cNvPr id="6" name="Content Placeholder 5">
            <a:extLst>
              <a:ext uri="{FF2B5EF4-FFF2-40B4-BE49-F238E27FC236}">
                <a16:creationId xmlns:a16="http://schemas.microsoft.com/office/drawing/2014/main" id="{999C6BFF-AF91-ADF0-F26B-5A444BE0A655}"/>
              </a:ext>
            </a:extLst>
          </p:cNvPr>
          <p:cNvPicPr>
            <a:picLocks noGrp="1" noChangeAspect="1"/>
          </p:cNvPicPr>
          <p:nvPr>
            <p:ph sz="quarter" idx="4"/>
          </p:nvPr>
        </p:nvPicPr>
        <p:blipFill>
          <a:blip r:embed="rId2"/>
          <a:stretch>
            <a:fillRect/>
          </a:stretch>
        </p:blipFill>
        <p:spPr>
          <a:xfrm>
            <a:off x="2017644" y="1805800"/>
            <a:ext cx="7838737" cy="4908186"/>
          </a:xfrm>
        </p:spPr>
      </p:pic>
      <p:sp>
        <p:nvSpPr>
          <p:cNvPr id="4" name="Slide Number Placeholder 3">
            <a:extLst>
              <a:ext uri="{FF2B5EF4-FFF2-40B4-BE49-F238E27FC236}">
                <a16:creationId xmlns:a16="http://schemas.microsoft.com/office/drawing/2014/main" id="{F36FBCB6-9004-3034-ED7D-ACEE8FD4D3F4}"/>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273889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6809-A753-F021-74FB-10A77D8F0A59}"/>
              </a:ext>
            </a:extLst>
          </p:cNvPr>
          <p:cNvSpPr>
            <a:spLocks noGrp="1"/>
          </p:cNvSpPr>
          <p:nvPr>
            <p:ph type="title"/>
          </p:nvPr>
        </p:nvSpPr>
        <p:spPr>
          <a:xfrm>
            <a:off x="914400" y="1057274"/>
            <a:ext cx="10511627" cy="1012785"/>
          </a:xfrm>
        </p:spPr>
        <p:txBody>
          <a:bodyPr anchor="b">
            <a:normAutofit/>
          </a:bodyPr>
          <a:lstStyle/>
          <a:p>
            <a:pPr marL="0" marR="0" lvl="0" indent="0" defTabSz="914400" rtl="0" eaLnBrk="0" fontAlgn="base" latinLnBrk="0" hangingPunct="0">
              <a:spcBef>
                <a:spcPct val="0"/>
              </a:spcBef>
              <a:spcAft>
                <a:spcPct val="0"/>
              </a:spcAft>
              <a:tabLst/>
            </a:pPr>
            <a:r>
              <a:rPr kumimoji="0" lang="en-US" altLang="en-US" b="1" i="0" u="none" strike="noStrike" cap="none" normalizeH="0" baseline="0">
                <a:ln>
                  <a:noFill/>
                </a:ln>
                <a:effectLst/>
              </a:rPr>
              <a:t>Customer Profile Table</a:t>
            </a:r>
            <a:endParaRPr lang="en-IN"/>
          </a:p>
        </p:txBody>
      </p:sp>
      <p:sp>
        <p:nvSpPr>
          <p:cNvPr id="4" name="Slide Number Placeholder 3">
            <a:extLst>
              <a:ext uri="{FF2B5EF4-FFF2-40B4-BE49-F238E27FC236}">
                <a16:creationId xmlns:a16="http://schemas.microsoft.com/office/drawing/2014/main" id="{196BBC45-AA27-6257-0500-A4DCA4859243}"/>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17</a:t>
            </a:fld>
            <a:endParaRPr lang="en-US"/>
          </a:p>
        </p:txBody>
      </p:sp>
      <p:graphicFrame>
        <p:nvGraphicFramePr>
          <p:cNvPr id="5" name="Content Placeholder 4">
            <a:extLst>
              <a:ext uri="{FF2B5EF4-FFF2-40B4-BE49-F238E27FC236}">
                <a16:creationId xmlns:a16="http://schemas.microsoft.com/office/drawing/2014/main" id="{2C346AA7-3581-7880-5733-5CBBE5C6FE74}"/>
              </a:ext>
            </a:extLst>
          </p:cNvPr>
          <p:cNvGraphicFramePr>
            <a:graphicFrameLocks noGrp="1"/>
          </p:cNvGraphicFramePr>
          <p:nvPr>
            <p:ph sz="quarter" idx="4"/>
            <p:extLst>
              <p:ext uri="{D42A27DB-BD31-4B8C-83A1-F6EECF244321}">
                <p14:modId xmlns:p14="http://schemas.microsoft.com/office/powerpoint/2010/main" val="3125782663"/>
              </p:ext>
            </p:extLst>
          </p:nvPr>
        </p:nvGraphicFramePr>
        <p:xfrm>
          <a:off x="914400" y="2441769"/>
          <a:ext cx="10511630" cy="3697156"/>
        </p:xfrm>
        <a:graphic>
          <a:graphicData uri="http://schemas.openxmlformats.org/drawingml/2006/table">
            <a:tbl>
              <a:tblPr firstRow="1" bandRow="1">
                <a:solidFill>
                  <a:schemeClr val="bg1"/>
                </a:solidFill>
              </a:tblPr>
              <a:tblGrid>
                <a:gridCol w="758900">
                  <a:extLst>
                    <a:ext uri="{9D8B030D-6E8A-4147-A177-3AD203B41FA5}">
                      <a16:colId xmlns:a16="http://schemas.microsoft.com/office/drawing/2014/main" val="3098513969"/>
                    </a:ext>
                  </a:extLst>
                </a:gridCol>
                <a:gridCol w="714906">
                  <a:extLst>
                    <a:ext uri="{9D8B030D-6E8A-4147-A177-3AD203B41FA5}">
                      <a16:colId xmlns:a16="http://schemas.microsoft.com/office/drawing/2014/main" val="2199587712"/>
                    </a:ext>
                  </a:extLst>
                </a:gridCol>
                <a:gridCol w="1278833">
                  <a:extLst>
                    <a:ext uri="{9D8B030D-6E8A-4147-A177-3AD203B41FA5}">
                      <a16:colId xmlns:a16="http://schemas.microsoft.com/office/drawing/2014/main" val="401439225"/>
                    </a:ext>
                  </a:extLst>
                </a:gridCol>
                <a:gridCol w="1514803">
                  <a:extLst>
                    <a:ext uri="{9D8B030D-6E8A-4147-A177-3AD203B41FA5}">
                      <a16:colId xmlns:a16="http://schemas.microsoft.com/office/drawing/2014/main" val="393725959"/>
                    </a:ext>
                  </a:extLst>
                </a:gridCol>
                <a:gridCol w="1774770">
                  <a:extLst>
                    <a:ext uri="{9D8B030D-6E8A-4147-A177-3AD203B41FA5}">
                      <a16:colId xmlns:a16="http://schemas.microsoft.com/office/drawing/2014/main" val="3097202360"/>
                    </a:ext>
                  </a:extLst>
                </a:gridCol>
                <a:gridCol w="1604792">
                  <a:extLst>
                    <a:ext uri="{9D8B030D-6E8A-4147-A177-3AD203B41FA5}">
                      <a16:colId xmlns:a16="http://schemas.microsoft.com/office/drawing/2014/main" val="1557553593"/>
                    </a:ext>
                  </a:extLst>
                </a:gridCol>
                <a:gridCol w="1120854">
                  <a:extLst>
                    <a:ext uri="{9D8B030D-6E8A-4147-A177-3AD203B41FA5}">
                      <a16:colId xmlns:a16="http://schemas.microsoft.com/office/drawing/2014/main" val="1039884124"/>
                    </a:ext>
                  </a:extLst>
                </a:gridCol>
                <a:gridCol w="984872">
                  <a:extLst>
                    <a:ext uri="{9D8B030D-6E8A-4147-A177-3AD203B41FA5}">
                      <a16:colId xmlns:a16="http://schemas.microsoft.com/office/drawing/2014/main" val="3652923507"/>
                    </a:ext>
                  </a:extLst>
                </a:gridCol>
                <a:gridCol w="758900">
                  <a:extLst>
                    <a:ext uri="{9D8B030D-6E8A-4147-A177-3AD203B41FA5}">
                      <a16:colId xmlns:a16="http://schemas.microsoft.com/office/drawing/2014/main" val="3232836303"/>
                    </a:ext>
                  </a:extLst>
                </a:gridCol>
              </a:tblGrid>
              <a:tr h="780307">
                <a:tc>
                  <a:txBody>
                    <a:bodyPr/>
                    <a:lstStyle/>
                    <a:p>
                      <a:r>
                        <a:rPr lang="en-IN" sz="1300" b="0" cap="none" spc="0">
                          <a:solidFill>
                            <a:schemeClr val="bg1"/>
                          </a:solidFill>
                        </a:rPr>
                        <a:t>Cluster</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Age Group</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Gender</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Loyalty Offer Preference</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Reward Offer Preferences</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Theater Mobile Offer</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Estimated Home Value Range</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Ticket Balance</a:t>
                      </a:r>
                    </a:p>
                  </a:txBody>
                  <a:tcPr marL="102900" marR="41679" marT="79153" marB="7915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r>
                        <a:rPr lang="en-IN" sz="1300" b="0" cap="none" spc="0">
                          <a:solidFill>
                            <a:schemeClr val="bg1"/>
                          </a:solidFill>
                        </a:rPr>
                        <a:t>Cluster Size</a:t>
                      </a:r>
                    </a:p>
                  </a:txBody>
                  <a:tcPr marL="102900" marR="41679" marT="79153" marB="7915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943375039"/>
                  </a:ext>
                </a:extLst>
              </a:tr>
              <a:tr h="972283">
                <a:tc>
                  <a:txBody>
                    <a:bodyPr/>
                    <a:lstStyle/>
                    <a:p>
                      <a:r>
                        <a:rPr lang="en-IN" sz="1300" b="1" cap="none" spc="0">
                          <a:solidFill>
                            <a:schemeClr val="tx1"/>
                          </a:solidFill>
                        </a:rPr>
                        <a:t>0</a:t>
                      </a:r>
                      <a:endParaRPr lang="en-IN" sz="1300" cap="none" spc="0">
                        <a:solidFill>
                          <a:schemeClr val="tx1"/>
                        </a:solidFill>
                      </a:endParaRPr>
                    </a:p>
                  </a:txBody>
                  <a:tcPr marL="102900" marR="41679" marT="79153" marB="79153"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IN" sz="1300" cap="none" spc="0">
                          <a:solidFill>
                            <a:schemeClr val="tx1"/>
                          </a:solidFill>
                        </a:rPr>
                        <a:t>21+</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IN" sz="1300" cap="none" spc="0">
                          <a:solidFill>
                            <a:schemeClr val="tx1"/>
                          </a:solidFill>
                        </a:rPr>
                        <a:t>Predominantly Male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US" sz="1300" cap="none" spc="0">
                          <a:solidFill>
                            <a:schemeClr val="tx1"/>
                          </a:solidFill>
                        </a:rPr>
                        <a:t>High engagement with rewards via email and mobile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US" sz="1300" cap="none" spc="0">
                          <a:solidFill>
                            <a:schemeClr val="tx1"/>
                          </a:solidFill>
                        </a:rPr>
                        <a:t>Strong engagement with reward offers (email, mobile, SMS)</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US" sz="1300" cap="none" spc="0">
                          <a:solidFill>
                            <a:schemeClr val="tx1"/>
                          </a:solidFill>
                        </a:rPr>
                        <a:t>High likelihood of receiving theater mobile offer</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US" sz="1300" cap="none" spc="0">
                          <a:solidFill>
                            <a:schemeClr val="tx1"/>
                          </a:solidFill>
                        </a:rPr>
                        <a:t>Moderate estimated home value range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IN" sz="1300" cap="none" spc="0">
                          <a:solidFill>
                            <a:schemeClr val="tx1"/>
                          </a:solidFill>
                        </a:rPr>
                        <a:t>Low ticket balance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r>
                        <a:rPr lang="en-IN" sz="1300" cap="none" spc="0">
                          <a:solidFill>
                            <a:schemeClr val="tx1"/>
                          </a:solidFill>
                        </a:rPr>
                        <a:t>21,064</a:t>
                      </a:r>
                    </a:p>
                  </a:txBody>
                  <a:tcPr marL="102900" marR="41679" marT="79153" marB="79153"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2037646421"/>
                  </a:ext>
                </a:extLst>
              </a:tr>
              <a:tr h="972283">
                <a:tc>
                  <a:txBody>
                    <a:bodyPr/>
                    <a:lstStyle/>
                    <a:p>
                      <a:r>
                        <a:rPr lang="en-IN" sz="1300" b="1" cap="none" spc="0">
                          <a:solidFill>
                            <a:schemeClr val="tx1"/>
                          </a:solidFill>
                        </a:rPr>
                        <a:t>1</a:t>
                      </a:r>
                      <a:endParaRPr lang="en-IN" sz="1300" cap="none" spc="0">
                        <a:solidFill>
                          <a:schemeClr val="tx1"/>
                        </a:solidFill>
                      </a:endParaRP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IN" sz="1300" cap="none" spc="0">
                          <a:solidFill>
                            <a:schemeClr val="tx1"/>
                          </a:solidFill>
                        </a:rPr>
                        <a:t>18-21</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IN" sz="1300" cap="none" spc="0">
                          <a:solidFill>
                            <a:schemeClr val="tx1"/>
                          </a:solidFill>
                        </a:rPr>
                        <a:t>Balanced Gender Distribution</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US" sz="1300" cap="none" spc="0">
                          <a:solidFill>
                            <a:schemeClr val="tx1"/>
                          </a:solidFill>
                        </a:rPr>
                        <a:t>Moderate engagement with loyalty and reward offers</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IN" sz="1300" cap="none" spc="0">
                          <a:solidFill>
                            <a:schemeClr val="tx1"/>
                          </a:solidFill>
                        </a:rPr>
                        <a:t>Moderate reward offer engagement</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US" sz="1300" cap="none" spc="0">
                          <a:solidFill>
                            <a:schemeClr val="tx1"/>
                          </a:solidFill>
                        </a:rPr>
                        <a:t>Low likelihood of receiving theater offers</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US" sz="1300" cap="none" spc="0">
                          <a:solidFill>
                            <a:schemeClr val="tx1"/>
                          </a:solidFill>
                        </a:rPr>
                        <a:t>Low estimated home value range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IN" sz="1300" cap="none" spc="0">
                          <a:solidFill>
                            <a:schemeClr val="tx1"/>
                          </a:solidFill>
                        </a:rPr>
                        <a:t>Moderate ticket balance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r>
                        <a:rPr lang="en-IN" sz="1300" cap="none" spc="0">
                          <a:solidFill>
                            <a:schemeClr val="tx1"/>
                          </a:solidFill>
                        </a:rPr>
                        <a:t>17,211</a:t>
                      </a:r>
                    </a:p>
                  </a:txBody>
                  <a:tcPr marL="102900" marR="41679" marT="79153" marB="7915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77559146"/>
                  </a:ext>
                </a:extLst>
              </a:tr>
              <a:tr h="972283">
                <a:tc>
                  <a:txBody>
                    <a:bodyPr/>
                    <a:lstStyle/>
                    <a:p>
                      <a:r>
                        <a:rPr lang="en-IN" sz="1300" b="1" cap="none" spc="0">
                          <a:solidFill>
                            <a:schemeClr val="tx1"/>
                          </a:solidFill>
                        </a:rPr>
                        <a:t>2</a:t>
                      </a:r>
                      <a:endParaRPr lang="en-IN" sz="1300" cap="none" spc="0">
                        <a:solidFill>
                          <a:schemeClr val="tx1"/>
                        </a:solidFill>
                      </a:endParaRPr>
                    </a:p>
                  </a:txBody>
                  <a:tcPr marL="102900" marR="41679" marT="79153" marB="79153"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300" cap="none" spc="0">
                          <a:solidFill>
                            <a:schemeClr val="tx1"/>
                          </a:solidFill>
                        </a:rPr>
                        <a:t>13-18</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300" cap="none" spc="0">
                          <a:solidFill>
                            <a:schemeClr val="tx1"/>
                          </a:solidFill>
                        </a:rPr>
                        <a:t>Predominantly Female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US" sz="1300" cap="none" spc="0">
                          <a:solidFill>
                            <a:schemeClr val="tx1"/>
                          </a:solidFill>
                        </a:rPr>
                        <a:t>Moderate loyalty and reward engagement</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US" sz="1300" cap="none" spc="0">
                          <a:solidFill>
                            <a:schemeClr val="tx1"/>
                          </a:solidFill>
                        </a:rPr>
                        <a:t>High engagement with reward offers (mobile, email)</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US" sz="1300" cap="none" spc="0">
                          <a:solidFill>
                            <a:schemeClr val="tx1"/>
                          </a:solidFill>
                        </a:rPr>
                        <a:t>Very low likelihood of receiving theater offers</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US" sz="1300" cap="none" spc="0">
                          <a:solidFill>
                            <a:schemeClr val="tx1"/>
                          </a:solidFill>
                        </a:rPr>
                        <a:t>High estimated home value range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300" cap="none" spc="0">
                          <a:solidFill>
                            <a:schemeClr val="tx1"/>
                          </a:solidFill>
                        </a:rPr>
                        <a:t>High ticket balance</a:t>
                      </a:r>
                    </a:p>
                  </a:txBody>
                  <a:tcPr marL="102900" marR="41679" marT="79153" marB="7915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300" cap="none" spc="0">
                          <a:solidFill>
                            <a:schemeClr val="tx1"/>
                          </a:solidFill>
                        </a:rPr>
                        <a:t>8,056</a:t>
                      </a:r>
                    </a:p>
                  </a:txBody>
                  <a:tcPr marL="102900" marR="41679" marT="79153" marB="79153"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926444867"/>
                  </a:ext>
                </a:extLst>
              </a:tr>
            </a:tbl>
          </a:graphicData>
        </a:graphic>
      </p:graphicFrame>
    </p:spTree>
    <p:extLst>
      <p:ext uri="{BB962C8B-B14F-4D97-AF65-F5344CB8AC3E}">
        <p14:creationId xmlns:p14="http://schemas.microsoft.com/office/powerpoint/2010/main" val="3597559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1B16-0C1D-727C-5A7E-1DF56F375078}"/>
              </a:ext>
            </a:extLst>
          </p:cNvPr>
          <p:cNvSpPr>
            <a:spLocks noGrp="1"/>
          </p:cNvSpPr>
          <p:nvPr>
            <p:ph type="title"/>
          </p:nvPr>
        </p:nvSpPr>
        <p:spPr>
          <a:xfrm>
            <a:off x="1550564" y="1057274"/>
            <a:ext cx="9875463" cy="999746"/>
          </a:xfrm>
        </p:spPr>
        <p:txBody>
          <a:bodyPr vert="horz" lIns="91440" tIns="0" rIns="91440" bIns="0" rtlCol="0" anchor="b" anchorCtr="0">
            <a:normAutofit/>
          </a:bodyPr>
          <a:lstStyle/>
          <a:p>
            <a:r>
              <a:rPr lang="en-US" b="1" kern="1200" cap="all" baseline="0">
                <a:latin typeface="+mj-lt"/>
                <a:ea typeface="+mj-ea"/>
                <a:cs typeface="+mj-cs"/>
              </a:rPr>
              <a:t>Clustering Model Performance</a:t>
            </a:r>
          </a:p>
        </p:txBody>
      </p:sp>
      <p:sp>
        <p:nvSpPr>
          <p:cNvPr id="7" name="TextBox 6">
            <a:extLst>
              <a:ext uri="{FF2B5EF4-FFF2-40B4-BE49-F238E27FC236}">
                <a16:creationId xmlns:a16="http://schemas.microsoft.com/office/drawing/2014/main" id="{48859774-F539-656F-13B1-08DF29B174BD}"/>
              </a:ext>
            </a:extLst>
          </p:cNvPr>
          <p:cNvSpPr txBox="1"/>
          <p:nvPr/>
        </p:nvSpPr>
        <p:spPr>
          <a:xfrm>
            <a:off x="1711841" y="5020672"/>
            <a:ext cx="9336892" cy="1876699"/>
          </a:xfrm>
          <a:prstGeom prst="rect">
            <a:avLst/>
          </a:prstGeom>
        </p:spPr>
        <p:txBody>
          <a:bodyPr vert="horz" lIns="91440" tIns="0" rIns="91440" bIns="0" rtlCol="0">
            <a:normAutofit/>
          </a:bodyPr>
          <a:lstStyle/>
          <a:p>
            <a:pPr marL="347472" marR="0" lvl="0" indent="-347472" defTabSz="914400" fontAlgn="base">
              <a:spcBef>
                <a:spcPts val="100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accent6"/>
                </a:solidFill>
                <a:effectLst/>
              </a:rPr>
              <a:t>Metrics Comparison:</a:t>
            </a:r>
            <a:endParaRPr kumimoji="0" lang="en-US" altLang="en-US" b="0" i="0" u="none" strike="noStrike" cap="none" normalizeH="0" baseline="0" dirty="0">
              <a:ln>
                <a:noFill/>
              </a:ln>
              <a:solidFill>
                <a:schemeClr val="accent6"/>
              </a:solidFill>
              <a:effectLst/>
            </a:endParaRPr>
          </a:p>
          <a:p>
            <a:pPr marL="347472" marR="0" lvl="0" indent="-347472" defTabSz="914400" fontAlgn="base">
              <a:spcBef>
                <a:spcPts val="100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accent6"/>
                </a:solidFill>
                <a:effectLst/>
              </a:rPr>
              <a:t>Best Model Insight:</a:t>
            </a:r>
            <a:r>
              <a:rPr kumimoji="0" lang="en-US" altLang="en-US" b="0" i="0" u="none" strike="noStrike" cap="none" normalizeH="0" baseline="0" dirty="0">
                <a:ln>
                  <a:noFill/>
                </a:ln>
                <a:solidFill>
                  <a:schemeClr val="accent6"/>
                </a:solidFill>
                <a:effectLst/>
              </a:rPr>
              <a:t> K-Means Clustering achieved the highest silhouette score (0.75), indicating distinct customer segments that are meaningful for targeted marketing.</a:t>
            </a:r>
          </a:p>
        </p:txBody>
      </p:sp>
      <p:sp>
        <p:nvSpPr>
          <p:cNvPr id="4" name="Slide Number Placeholder 3">
            <a:extLst>
              <a:ext uri="{FF2B5EF4-FFF2-40B4-BE49-F238E27FC236}">
                <a16:creationId xmlns:a16="http://schemas.microsoft.com/office/drawing/2014/main" id="{80A83A83-FB9D-0767-6D43-01A6A1AC0080}"/>
              </a:ext>
            </a:extLst>
          </p:cNvPr>
          <p:cNvSpPr>
            <a:spLocks noGrp="1"/>
          </p:cNvSpPr>
          <p:nvPr>
            <p:ph type="sldNum" sz="quarter" idx="10"/>
          </p:nvPr>
        </p:nvSpPr>
        <p:spPr>
          <a:xfrm>
            <a:off x="10438475" y="457199"/>
            <a:ext cx="987552"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18</a:t>
            </a:fld>
            <a:endParaRPr lang="en-US"/>
          </a:p>
        </p:txBody>
      </p:sp>
      <p:graphicFrame>
        <p:nvGraphicFramePr>
          <p:cNvPr id="5" name="Content Placeholder 4">
            <a:extLst>
              <a:ext uri="{FF2B5EF4-FFF2-40B4-BE49-F238E27FC236}">
                <a16:creationId xmlns:a16="http://schemas.microsoft.com/office/drawing/2014/main" id="{5979CAF3-EE78-911F-FE31-463CA624AF32}"/>
              </a:ext>
            </a:extLst>
          </p:cNvPr>
          <p:cNvGraphicFramePr>
            <a:graphicFrameLocks noGrp="1"/>
          </p:cNvGraphicFramePr>
          <p:nvPr>
            <p:ph sz="half" idx="2"/>
            <p:extLst>
              <p:ext uri="{D42A27DB-BD31-4B8C-83A1-F6EECF244321}">
                <p14:modId xmlns:p14="http://schemas.microsoft.com/office/powerpoint/2010/main" val="1139734621"/>
              </p:ext>
            </p:extLst>
          </p:nvPr>
        </p:nvGraphicFramePr>
        <p:xfrm>
          <a:off x="1711841" y="2522021"/>
          <a:ext cx="9260958" cy="1876699"/>
        </p:xfrm>
        <a:graphic>
          <a:graphicData uri="http://schemas.openxmlformats.org/drawingml/2006/table">
            <a:tbl>
              <a:tblPr firstRow="1" bandRow="1">
                <a:solidFill>
                  <a:schemeClr val="accent1">
                    <a:lumMod val="20000"/>
                    <a:lumOff val="80000"/>
                  </a:schemeClr>
                </a:solidFill>
              </a:tblPr>
              <a:tblGrid>
                <a:gridCol w="2782083">
                  <a:extLst>
                    <a:ext uri="{9D8B030D-6E8A-4147-A177-3AD203B41FA5}">
                      <a16:colId xmlns:a16="http://schemas.microsoft.com/office/drawing/2014/main" val="1119941792"/>
                    </a:ext>
                  </a:extLst>
                </a:gridCol>
                <a:gridCol w="2858995">
                  <a:extLst>
                    <a:ext uri="{9D8B030D-6E8A-4147-A177-3AD203B41FA5}">
                      <a16:colId xmlns:a16="http://schemas.microsoft.com/office/drawing/2014/main" val="4200107648"/>
                    </a:ext>
                  </a:extLst>
                </a:gridCol>
                <a:gridCol w="2270009">
                  <a:extLst>
                    <a:ext uri="{9D8B030D-6E8A-4147-A177-3AD203B41FA5}">
                      <a16:colId xmlns:a16="http://schemas.microsoft.com/office/drawing/2014/main" val="1871742419"/>
                    </a:ext>
                  </a:extLst>
                </a:gridCol>
                <a:gridCol w="1349871">
                  <a:extLst>
                    <a:ext uri="{9D8B030D-6E8A-4147-A177-3AD203B41FA5}">
                      <a16:colId xmlns:a16="http://schemas.microsoft.com/office/drawing/2014/main" val="3330532756"/>
                    </a:ext>
                  </a:extLst>
                </a:gridCol>
              </a:tblGrid>
              <a:tr h="1070966">
                <a:tc>
                  <a:txBody>
                    <a:bodyPr/>
                    <a:lstStyle/>
                    <a:p>
                      <a:r>
                        <a:rPr lang="en-IN" sz="1500" b="1" cap="all" spc="60" dirty="0">
                          <a:solidFill>
                            <a:schemeClr val="bg1"/>
                          </a:solidFill>
                        </a:rPr>
                        <a:t>Model</a:t>
                      </a:r>
                    </a:p>
                  </a:txBody>
                  <a:tcPr marL="174295" marR="174295" marT="174295" marB="174295" anchor="ctr">
                    <a:lnL w="12700" cmpd="sng">
                      <a:noFill/>
                    </a:lnL>
                    <a:lnR w="12700" cmpd="sng">
                      <a:noFill/>
                    </a:lnR>
                    <a:lnT w="12700" cmpd="sng">
                      <a:noFill/>
                    </a:lnT>
                    <a:lnB w="38100" cmpd="sng">
                      <a:noFill/>
                    </a:lnB>
                    <a:solidFill>
                      <a:schemeClr val="tx1"/>
                    </a:solidFill>
                  </a:tcPr>
                </a:tc>
                <a:tc>
                  <a:txBody>
                    <a:bodyPr/>
                    <a:lstStyle/>
                    <a:p>
                      <a:r>
                        <a:rPr lang="en-IN" sz="1500" b="1" cap="all" spc="60" dirty="0">
                          <a:solidFill>
                            <a:schemeClr val="bg1"/>
                          </a:solidFill>
                        </a:rPr>
                        <a:t>Silhouette Score</a:t>
                      </a:r>
                    </a:p>
                  </a:txBody>
                  <a:tcPr marL="174295" marR="174295" marT="174295" marB="174295" anchor="ctr">
                    <a:lnL w="12700" cmpd="sng">
                      <a:noFill/>
                    </a:lnL>
                    <a:lnR w="12700" cmpd="sng">
                      <a:noFill/>
                    </a:lnR>
                    <a:lnT w="12700" cmpd="sng">
                      <a:noFill/>
                    </a:lnT>
                    <a:lnB w="38100" cmpd="sng">
                      <a:noFill/>
                    </a:lnB>
                    <a:solidFill>
                      <a:schemeClr val="tx1"/>
                    </a:solidFill>
                  </a:tcPr>
                </a:tc>
                <a:tc>
                  <a:txBody>
                    <a:bodyPr/>
                    <a:lstStyle/>
                    <a:p>
                      <a:r>
                        <a:rPr lang="en-IN" sz="1500" b="1" cap="all" spc="60" dirty="0">
                          <a:solidFill>
                            <a:schemeClr val="bg1"/>
                          </a:solidFill>
                        </a:rPr>
                        <a:t>Davies-Bouldin Index</a:t>
                      </a:r>
                    </a:p>
                  </a:txBody>
                  <a:tcPr marL="174295" marR="174295" marT="174295" marB="174295" anchor="ctr">
                    <a:lnL w="12700" cmpd="sng">
                      <a:noFill/>
                    </a:lnL>
                    <a:lnR w="12700" cmpd="sng">
                      <a:noFill/>
                    </a:lnR>
                    <a:lnT w="12700" cmpd="sng">
                      <a:noFill/>
                    </a:lnT>
                    <a:lnB w="38100" cmpd="sng">
                      <a:noFill/>
                    </a:lnB>
                    <a:solidFill>
                      <a:schemeClr val="tx1"/>
                    </a:solidFill>
                  </a:tcPr>
                </a:tc>
                <a:tc>
                  <a:txBody>
                    <a:bodyPr/>
                    <a:lstStyle/>
                    <a:p>
                      <a:r>
                        <a:rPr lang="en-IN" sz="1500" b="1" cap="all" spc="60" dirty="0">
                          <a:solidFill>
                            <a:schemeClr val="bg1"/>
                          </a:solidFill>
                        </a:rPr>
                        <a:t>ARI</a:t>
                      </a:r>
                    </a:p>
                  </a:txBody>
                  <a:tcPr marL="174295" marR="174295" marT="174295" marB="174295" anchor="ctr">
                    <a:lnL w="12700" cmpd="sng">
                      <a:noFill/>
                    </a:lnL>
                    <a:lnR w="12700" cmpd="sng">
                      <a:noFill/>
                    </a:lnR>
                    <a:lnT w="12700" cmpd="sng">
                      <a:noFill/>
                    </a:lnT>
                    <a:lnB w="38100" cmpd="sng">
                      <a:noFill/>
                    </a:lnB>
                    <a:solidFill>
                      <a:schemeClr val="tx1"/>
                    </a:solidFill>
                  </a:tcPr>
                </a:tc>
                <a:extLst>
                  <a:ext uri="{0D108BD9-81ED-4DB2-BD59-A6C34878D82A}">
                    <a16:rowId xmlns:a16="http://schemas.microsoft.com/office/drawing/2014/main" val="3095014252"/>
                  </a:ext>
                </a:extLst>
              </a:tr>
              <a:tr h="805733">
                <a:tc>
                  <a:txBody>
                    <a:bodyPr/>
                    <a:lstStyle/>
                    <a:p>
                      <a:r>
                        <a:rPr lang="en-IN" sz="2000" cap="none" spc="0" dirty="0">
                          <a:solidFill>
                            <a:schemeClr val="tx1"/>
                          </a:solidFill>
                        </a:rPr>
                        <a:t>K-Means Clustering</a:t>
                      </a:r>
                    </a:p>
                  </a:txBody>
                  <a:tcPr marL="86724" marR="86724" marT="43361" marB="116196" anchor="ctr">
                    <a:lnL w="12700" cmpd="sng">
                      <a:noFill/>
                      <a:prstDash val="solid"/>
                    </a:lnL>
                    <a:lnR w="12700" cmpd="sng">
                      <a:noFill/>
                      <a:prstDash val="solid"/>
                    </a:lnR>
                    <a:lnT w="38100" cmpd="sng">
                      <a:noFill/>
                    </a:lnT>
                    <a:lnB w="12700" cmpd="sng">
                      <a:noFill/>
                      <a:prstDash val="solid"/>
                    </a:lnB>
                    <a:solidFill>
                      <a:schemeClr val="bg2">
                        <a:lumMod val="90000"/>
                      </a:schemeClr>
                    </a:solidFill>
                  </a:tcPr>
                </a:tc>
                <a:tc>
                  <a:txBody>
                    <a:bodyPr/>
                    <a:lstStyle/>
                    <a:p>
                      <a:r>
                        <a:rPr lang="en-IN" sz="2000" cap="none" spc="0">
                          <a:solidFill>
                            <a:schemeClr val="tx1"/>
                          </a:solidFill>
                        </a:rPr>
                        <a:t>0.75</a:t>
                      </a:r>
                    </a:p>
                  </a:txBody>
                  <a:tcPr marL="86724" marR="86724" marT="43361" marB="116196" anchor="ctr">
                    <a:lnL w="12700" cmpd="sng">
                      <a:noFill/>
                      <a:prstDash val="solid"/>
                    </a:lnL>
                    <a:lnR w="12700" cmpd="sng">
                      <a:noFill/>
                      <a:prstDash val="solid"/>
                    </a:lnR>
                    <a:lnT w="38100" cmpd="sng">
                      <a:noFill/>
                    </a:lnT>
                    <a:lnB w="12700" cmpd="sng">
                      <a:noFill/>
                      <a:prstDash val="solid"/>
                    </a:lnB>
                    <a:solidFill>
                      <a:schemeClr val="bg2">
                        <a:lumMod val="90000"/>
                      </a:schemeClr>
                    </a:solidFill>
                  </a:tcPr>
                </a:tc>
                <a:tc>
                  <a:txBody>
                    <a:bodyPr/>
                    <a:lstStyle/>
                    <a:p>
                      <a:r>
                        <a:rPr lang="en-IN" sz="2000" cap="none" spc="0" dirty="0">
                          <a:solidFill>
                            <a:schemeClr val="tx1"/>
                          </a:solidFill>
                        </a:rPr>
                        <a:t>1.02</a:t>
                      </a:r>
                    </a:p>
                  </a:txBody>
                  <a:tcPr marL="86724" marR="86724" marT="43361" marB="116196" anchor="ctr">
                    <a:lnL w="12700" cmpd="sng">
                      <a:noFill/>
                      <a:prstDash val="solid"/>
                    </a:lnL>
                    <a:lnR w="12700" cmpd="sng">
                      <a:noFill/>
                      <a:prstDash val="solid"/>
                    </a:lnR>
                    <a:lnT w="38100" cmpd="sng">
                      <a:noFill/>
                    </a:lnT>
                    <a:lnB w="12700" cmpd="sng">
                      <a:noFill/>
                      <a:prstDash val="solid"/>
                    </a:lnB>
                    <a:solidFill>
                      <a:schemeClr val="bg2">
                        <a:lumMod val="90000"/>
                      </a:schemeClr>
                    </a:solidFill>
                  </a:tcPr>
                </a:tc>
                <a:tc>
                  <a:txBody>
                    <a:bodyPr/>
                    <a:lstStyle/>
                    <a:p>
                      <a:r>
                        <a:rPr lang="en-IN" sz="2000" cap="none" spc="0" dirty="0">
                          <a:solidFill>
                            <a:schemeClr val="tx1"/>
                          </a:solidFill>
                        </a:rPr>
                        <a:t>0.60</a:t>
                      </a:r>
                    </a:p>
                  </a:txBody>
                  <a:tcPr marL="86724" marR="86724" marT="43361" marB="116196" anchor="ctr">
                    <a:lnL w="12700" cmpd="sng">
                      <a:noFill/>
                      <a:prstDash val="solid"/>
                    </a:lnL>
                    <a:lnR w="12700" cmpd="sng">
                      <a:noFill/>
                      <a:prstDash val="solid"/>
                    </a:lnR>
                    <a:lnT w="38100" cmpd="sng">
                      <a:noFill/>
                    </a:lnT>
                    <a:lnB w="12700" cmpd="sng">
                      <a:noFill/>
                      <a:prstDash val="solid"/>
                    </a:lnB>
                    <a:solidFill>
                      <a:schemeClr val="bg2">
                        <a:lumMod val="90000"/>
                      </a:schemeClr>
                    </a:solidFill>
                  </a:tcPr>
                </a:tc>
                <a:extLst>
                  <a:ext uri="{0D108BD9-81ED-4DB2-BD59-A6C34878D82A}">
                    <a16:rowId xmlns:a16="http://schemas.microsoft.com/office/drawing/2014/main" val="2145341530"/>
                  </a:ext>
                </a:extLst>
              </a:tr>
            </a:tbl>
          </a:graphicData>
        </a:graphic>
      </p:graphicFrame>
    </p:spTree>
    <p:extLst>
      <p:ext uri="{BB962C8B-B14F-4D97-AF65-F5344CB8AC3E}">
        <p14:creationId xmlns:p14="http://schemas.microsoft.com/office/powerpoint/2010/main" val="1408185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2BAA8-3C38-705C-102E-46BFF3327391}"/>
              </a:ext>
            </a:extLst>
          </p:cNvPr>
          <p:cNvSpPr>
            <a:spLocks noGrp="1"/>
          </p:cNvSpPr>
          <p:nvPr>
            <p:ph type="title"/>
          </p:nvPr>
        </p:nvSpPr>
        <p:spPr>
          <a:xfrm>
            <a:off x="914400" y="1057274"/>
            <a:ext cx="10511627" cy="1012785"/>
          </a:xfrm>
        </p:spPr>
        <p:txBody>
          <a:bodyPr anchor="b">
            <a:normAutofit fontScale="90000"/>
          </a:bodyPr>
          <a:lstStyle/>
          <a:p>
            <a:pPr algn="l"/>
            <a:r>
              <a:rPr lang="en-US" b="1" i="0" dirty="0">
                <a:effectLst/>
                <a:latin typeface="var(--jp-content-font-family)"/>
              </a:rPr>
              <a:t>Who are the customers that are likely to convert to Premier?</a:t>
            </a:r>
          </a:p>
        </p:txBody>
      </p:sp>
      <p:sp>
        <p:nvSpPr>
          <p:cNvPr id="4" name="Slide Number Placeholder 3">
            <a:extLst>
              <a:ext uri="{FF2B5EF4-FFF2-40B4-BE49-F238E27FC236}">
                <a16:creationId xmlns:a16="http://schemas.microsoft.com/office/drawing/2014/main" id="{7AFE3705-7C70-AC22-1A64-8A7BF516E03E}"/>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19</a:t>
            </a:fld>
            <a:endParaRPr lang="en-US"/>
          </a:p>
        </p:txBody>
      </p:sp>
      <p:sp>
        <p:nvSpPr>
          <p:cNvPr id="7" name="Content Placeholder 6">
            <a:extLst>
              <a:ext uri="{FF2B5EF4-FFF2-40B4-BE49-F238E27FC236}">
                <a16:creationId xmlns:a16="http://schemas.microsoft.com/office/drawing/2014/main" id="{3CC57735-F24B-E6DE-17B1-503887DF7BCF}"/>
              </a:ext>
            </a:extLst>
          </p:cNvPr>
          <p:cNvSpPr>
            <a:spLocks noGrp="1"/>
          </p:cNvSpPr>
          <p:nvPr>
            <p:ph sz="quarter" idx="4"/>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var(--jp-content-font-family)"/>
              </a:rPr>
              <a:t>Customers most likely to upgrade to Premier are younger (aged 25-40), with higher spending habits and consistent usage patterns. They often belong to mid- or upper-wealth categories and are more willing to invest in premium services. Positive interactions with customer support play a significant role, as satisfied customers are more inclined to upgrade. Additionally, long-term loyal users who have been with the service for several years are more likely to transition to Premier. These customers demonstrate readiness for premium offerings through their spending behavior, loyalty, and engagement with the service.</a:t>
            </a:r>
          </a:p>
        </p:txBody>
      </p:sp>
    </p:spTree>
    <p:extLst>
      <p:ext uri="{BB962C8B-B14F-4D97-AF65-F5344CB8AC3E}">
        <p14:creationId xmlns:p14="http://schemas.microsoft.com/office/powerpoint/2010/main" val="3891041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F5DD-C67A-FC71-B2B6-D7D1DFF6E906}"/>
              </a:ext>
            </a:extLst>
          </p:cNvPr>
          <p:cNvSpPr>
            <a:spLocks noGrp="1"/>
          </p:cNvSpPr>
          <p:nvPr>
            <p:ph type="title"/>
          </p:nvPr>
        </p:nvSpPr>
        <p:spPr/>
        <p:txBody>
          <a:bodyPr/>
          <a:lstStyle/>
          <a:p>
            <a:r>
              <a:rPr lang="en-US" b="1" i="0" dirty="0">
                <a:effectLst/>
                <a:latin typeface="var(--jp-content-font-family)"/>
              </a:rPr>
              <a:t>Who are the customers that utilize Premier?</a:t>
            </a:r>
            <a:endParaRPr lang="en-IN" dirty="0"/>
          </a:p>
        </p:txBody>
      </p:sp>
      <p:sp>
        <p:nvSpPr>
          <p:cNvPr id="3" name="Content Placeholder 2">
            <a:extLst>
              <a:ext uri="{FF2B5EF4-FFF2-40B4-BE49-F238E27FC236}">
                <a16:creationId xmlns:a16="http://schemas.microsoft.com/office/drawing/2014/main" id="{8AD8FA55-0938-EED6-3850-ED0FE3205332}"/>
              </a:ext>
            </a:extLst>
          </p:cNvPr>
          <p:cNvSpPr>
            <a:spLocks noGrp="1"/>
          </p:cNvSpPr>
          <p:nvPr>
            <p:ph sz="quarter" idx="4"/>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Premier customers are high-value clients who prefer premium services. They are typically older (above 35 years), have higher incomes, and are willing to pay for enhanced experiences. These customers show strong loyalty, having been with the brand for a longer time, and frequently engage with the service through frequent usage and numerous transactions. Their consistent engagement and spending patterns highlight the value they derive from Premier offerings, making them ideal candidates for premium services.</a:t>
            </a:r>
          </a:p>
        </p:txBody>
      </p:sp>
      <p:sp>
        <p:nvSpPr>
          <p:cNvPr id="4" name="Slide Number Placeholder 3">
            <a:extLst>
              <a:ext uri="{FF2B5EF4-FFF2-40B4-BE49-F238E27FC236}">
                <a16:creationId xmlns:a16="http://schemas.microsoft.com/office/drawing/2014/main" id="{00C78E62-F3F2-6465-DA2F-629537F37A43}"/>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1936613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4E399-1B85-B502-9A4E-4EF4A8CE9C29}"/>
              </a:ext>
            </a:extLst>
          </p:cNvPr>
          <p:cNvSpPr>
            <a:spLocks noGrp="1"/>
          </p:cNvSpPr>
          <p:nvPr>
            <p:ph type="title"/>
          </p:nvPr>
        </p:nvSpPr>
        <p:spPr/>
        <p:txBody>
          <a:bodyPr/>
          <a:lstStyle/>
          <a:p>
            <a:r>
              <a:rPr lang="en-US" b="1" i="0" dirty="0">
                <a:effectLst/>
                <a:latin typeface="var(--jp-content-font-family)"/>
              </a:rPr>
              <a:t>Who are the customers that utilize Insider?</a:t>
            </a:r>
            <a:endParaRPr lang="en-IN" dirty="0"/>
          </a:p>
        </p:txBody>
      </p:sp>
      <p:sp>
        <p:nvSpPr>
          <p:cNvPr id="3" name="Content Placeholder 2">
            <a:extLst>
              <a:ext uri="{FF2B5EF4-FFF2-40B4-BE49-F238E27FC236}">
                <a16:creationId xmlns:a16="http://schemas.microsoft.com/office/drawing/2014/main" id="{24B37E1D-18D4-F26B-6857-28A592B6F902}"/>
              </a:ext>
            </a:extLst>
          </p:cNvPr>
          <p:cNvSpPr>
            <a:spLocks noGrp="1"/>
          </p:cNvSpPr>
          <p:nvPr>
            <p:ph sz="quarter" idx="4"/>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Insider customers are younger individuals (20-30 years old) who are exploring the brand and testing services before committing to premium options. They often belong to lower or mid-wealth segments, are more price-sensitive, and engage less frequently with the service. These customers typically use basic features, show interest in discounts and special offers, and have a shorter history with the brand. They are cost-conscious but still curious about premium experiences, making them frequent trial users or occasional customers.</a:t>
            </a:r>
          </a:p>
        </p:txBody>
      </p:sp>
      <p:sp>
        <p:nvSpPr>
          <p:cNvPr id="4" name="Slide Number Placeholder 3">
            <a:extLst>
              <a:ext uri="{FF2B5EF4-FFF2-40B4-BE49-F238E27FC236}">
                <a16:creationId xmlns:a16="http://schemas.microsoft.com/office/drawing/2014/main" id="{9B05B0D2-1682-FDA0-1996-903866EF4DB0}"/>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3375964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399" y="2222204"/>
            <a:ext cx="5847907" cy="1371601"/>
          </a:xfrm>
        </p:spPr>
        <p:txBody>
          <a:bodyPr/>
          <a:lstStyle/>
          <a:p>
            <a:r>
              <a:rPr lang="en-US" sz="66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{D509ACE4-6AE5-495F-AC24-D9D025E15F96}tf78438558_win32</Template>
  <TotalTime>128</TotalTime>
  <Words>868</Words>
  <Application>Microsoft Office PowerPoint</Application>
  <PresentationFormat>Widescreen</PresentationFormat>
  <Paragraphs>161</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Black</vt:lpstr>
      <vt:lpstr>Calibri</vt:lpstr>
      <vt:lpstr>Sabon Next LT</vt:lpstr>
      <vt:lpstr>var(--jp-content-font-family)</vt:lpstr>
      <vt:lpstr>Custom</vt:lpstr>
      <vt:lpstr>Analysis of Theater Customer Data: Model Evaluation &amp; Insights</vt:lpstr>
      <vt:lpstr>Project Overview</vt:lpstr>
      <vt:lpstr>Data Preprocessing </vt:lpstr>
      <vt:lpstr>Classification Models Built</vt:lpstr>
      <vt:lpstr>Decision Tree Classifier</vt:lpstr>
      <vt:lpstr>FEATURE IMPORTANCE</vt:lpstr>
      <vt:lpstr>Logistic Regression</vt:lpstr>
      <vt:lpstr>Random forest classifier</vt:lpstr>
      <vt:lpstr>Classification Model Performance</vt:lpstr>
      <vt:lpstr>ROC Curve</vt:lpstr>
      <vt:lpstr>Regression Models Built</vt:lpstr>
      <vt:lpstr>Random forest regressor</vt:lpstr>
      <vt:lpstr>Linear regression</vt:lpstr>
      <vt:lpstr>Regression Model Performance</vt:lpstr>
      <vt:lpstr>Clustering Models Built</vt:lpstr>
      <vt:lpstr>Elbow method for optimal k value</vt:lpstr>
      <vt:lpstr>Customer Profile Table</vt:lpstr>
      <vt:lpstr>Clustering Model Performance</vt:lpstr>
      <vt:lpstr>Who are the customers that are likely to convert to Premier?</vt:lpstr>
      <vt:lpstr>Who are the customers that utilize Premier?</vt:lpstr>
      <vt:lpstr>Who are the customers that utilize Insider?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Chakrapani Sampath</dc:creator>
  <cp:lastModifiedBy>Chakrapani Sampath</cp:lastModifiedBy>
  <cp:revision>6</cp:revision>
  <dcterms:created xsi:type="dcterms:W3CDTF">2024-12-08T19:33:06Z</dcterms:created>
  <dcterms:modified xsi:type="dcterms:W3CDTF">2024-12-09T00:12:49Z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